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34.svg" ContentType="image/svg+xml"/>
  <Override PartName="/ppt/media/image36.svg" ContentType="image/svg+xml"/>
  <Override PartName="/ppt/media/image39.svg" ContentType="image/svg+xml"/>
  <Override PartName="/ppt/media/image4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68" r:id="rId4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了解一下项目的背景和目标。在远程工作日益普及的今天，招聘信息爆炸式增长，如何从中高效筛选出优质岗位并实现精准匹配，是我们面临的核心挑战。因此，我们的研究设定了四个核心目标：评估岗位质量、实现精准匹配、洞察市场结构以及探索智能交互。我们的研究基于来自Himalayas的12,000条全球远程岗位数据，这些数据已经过严格的清洗和标准化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的核心算法之一：人岗匹配。我们设计的系统能够处理文本和PDF格式的简历，并通过一系列标准化步骤提取关键信息。匹配的核心是一个加权公式，它综合考虑了技能相关性、岗位类别、工作经验和地点四个维度。其中，技能相关性占据了最高的权重，达到55%，这确保了匹配结果的专业性和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深入了解全球远程岗位市场的结构，我们运用了K-Means聚类算法。在选择聚类数量K时，我们参考了肘部法则和轮廓系数两种方法。从图中可以看到，虽然肘部法则在K=6附近出现拐点，但轮廓系数在K=4时达到峰值。综合考虑模型性能和业务上的可解释性，我们最终决定将岗位分为4个集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聚类分析的结果。我们将四个集群分别命名为：云平台与DevOps工程岗位、销售与业务拓展岗位、企业应用与技术创新岗位，以及机器学习与人工智能岗位。可以看到，销售类岗位占据了市场的主体，接近七成。下方的PCA投影图直观地展示了这四个集群在特征空间中的分布，我们可以看到它们之间存在明显的区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全面解决招聘场景中的不同问题，我们构建了五个核心模块。这张表格清晰地对比了它们的业务目标、核心算法和评价方式。从评估岗位质量的分类模型，到实现精准匹配的排序算法，再到发现市场结构的聚类分析，以及更前沿的RAG检索和Agent工作流，每个模块都有其独特的定位和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我们对岗位质量评分模型进行了对比。左侧简要介绍了评估背景，右侧放大展示了模型对比的详细图表。结论非常明确：XGBoost模型在F1分数、ROC-AUC等关键指标上均表现最优，因此我们选择该模型作为岗位质量评分的最终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RAG模块。我们利用FAISS向量数据库和bge-small-zh-v1.5嵌入模型，构建了一个包含超过5万个文本块的岗位知识库。通过对12个真实业务问题的测试，我们的RAG系统在Top-3召回中，有50%的问题能够成功命中至少一个符合要求的岗位，并且所有结果都可以追溯到原始岗位链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更直观地展示了RAG系统在每个测试问题上的表现。我们可以看到，对于像“需要会AWS、Docker和Kubernetes的远程DevOps岗位”这样的具体查询，系统的准确率非常高。这说明我们的RAG系统在处理结构化、技术性强的问题时表现优异，这对于技术岗位的招聘场景非常有价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最后，我们介绍最具前瞻性的Agent模块。它基于大模型的Function Calling能力，能够理解用户的复杂意图，并智能地调用我们前面提到的各个工具来完成任务。例如，用户可以问“帮我找一份适合3年经验Python工程师的高质量远程岗位，并分析这个岗位属于哪个市场集群”，Agent就能自动完成匹配、评分和聚类查询等一系列操作。目前，Agent已经集成了搜索、评分、匹配、聚类和RAG检索这五类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.svg"/><Relationship Id="rId7" Type="http://schemas.openxmlformats.org/officeDocument/2006/relationships/image" Target="../media/image2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10.svg"/><Relationship Id="rId1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png"/><Relationship Id="rId8" Type="http://schemas.openxmlformats.org/officeDocument/2006/relationships/image" Target="../media/image46.svg"/><Relationship Id="rId7" Type="http://schemas.openxmlformats.org/officeDocument/2006/relationships/image" Target="../media/image45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.svg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53.svg"/><Relationship Id="rId15" Type="http://schemas.openxmlformats.org/officeDocument/2006/relationships/image" Target="../media/image52.png"/><Relationship Id="rId14" Type="http://schemas.openxmlformats.org/officeDocument/2006/relationships/image" Target="../media/image51.svg"/><Relationship Id="rId13" Type="http://schemas.openxmlformats.org/officeDocument/2006/relationships/image" Target="../media/image50.png"/><Relationship Id="rId12" Type="http://schemas.openxmlformats.org/officeDocument/2006/relationships/image" Target="../media/image49.svg"/><Relationship Id="rId11" Type="http://schemas.openxmlformats.org/officeDocument/2006/relationships/image" Target="../media/image48.png"/><Relationship Id="rId10" Type="http://schemas.openxmlformats.org/officeDocument/2006/relationships/image" Target="../media/image39.svg"/><Relationship Id="rId1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602740"/>
            <a:ext cx="10160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基于全球远程招聘岗位大数据的</a:t>
            </a:r>
            <a:endParaRPr lang="en-US" sz="4000" b="1" i="0" u="none" strike="noStrike">
              <a:solidFill>
                <a:srgbClr val="007B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  <a:defRPr/>
            </a:pPr>
            <a:r>
              <a:rPr lang="en-US" sz="4000" b="1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岗位质量评分与人岗匹配研究</a:t>
            </a:r>
            <a:endParaRPr lang="zh-CN" altLang="en-US" sz="4000" b="1" i="0" u="none" strike="noStrike">
              <a:solidFill>
                <a:srgbClr val="3747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16000" y="3380740"/>
            <a:ext cx="10160000" cy="25400"/>
          </a:xfrm>
          <a:prstGeom prst="roundRect">
            <a:avLst>
              <a:gd name="adj" fmla="val 0"/>
            </a:avLst>
          </a:prstGeom>
          <a:solidFill>
            <a:srgbClr val="2196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4204970"/>
            <a:ext cx="4889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204970"/>
            <a:ext cx="76200" cy="1397000"/>
          </a:xfrm>
          <a:prstGeom prst="roundRect">
            <a:avLst>
              <a:gd name="adj" fmla="val 0"/>
            </a:avLst>
          </a:prstGeom>
          <a:solidFill>
            <a:srgbClr val="2196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433197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16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这是哪组</a:t>
            </a:r>
            <a:r>
              <a:rPr lang="en-US" altLang="zh-CN" sz="16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胡善辉</a:t>
            </a:r>
            <a:r>
              <a:rPr lang="en-US" sz="16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endParaRPr lang="en-US" sz="1400" b="0" i="0" u="none" strike="noStrike">
              <a:solidFill>
                <a:srgbClr val="546E7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86500" y="4204970"/>
            <a:ext cx="4889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286500" y="4204970"/>
            <a:ext cx="76200" cy="1397000"/>
          </a:xfrm>
          <a:prstGeom prst="roundRect">
            <a:avLst>
              <a:gd name="adj" fmla="val 0"/>
            </a:avLst>
          </a:prstGeom>
          <a:solidFill>
            <a:srgbClr val="2196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540500" y="433197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17000"/>
              </a:lnSpc>
              <a:buSzTx/>
              <a:defRPr/>
            </a:pPr>
            <a:r>
              <a:rPr lang="en-US" sz="16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答辩日期：2026年9月18</a:t>
            </a:r>
            <a:r>
              <a:rPr lang="zh-CN" altLang="en-US" sz="1600" b="1" i="0" u="none" strike="noStrike">
                <a:solidFill>
                  <a:srgbClr val="37474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1600" b="1" i="0" u="none" strike="noStrike">
              <a:solidFill>
                <a:srgbClr val="37474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项目概述与核心目标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43A4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随着全球化与远程工作的普及，海量招聘信息带来了信息过载的挑战。本项目旨在利用大数据与人工智能技术，构建智能化的岗位分析与匹配系统，为求职者与招聘方提供高效的决策支持与价值洞察。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921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007BFF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11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31115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岗位质量评估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460500" y="3492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建立客观评分模型，量化评估岗位信息完整性与透明度，帮助用户快速识别优质、合规的远程工作机会。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2921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007BFF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3111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21500" y="31115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 精准人岗匹配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921500" y="34925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开发可解释的匹配算法，将候选人技能与岗位需求深度对齐，实现简历与岗位的智能排序，提升匹配效率。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508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007BFF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699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4699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03 岗位市场洞察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460500" y="5080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基于无监督聚类算法，挖掘全球远程岗位的市场结构与职业分布，揭示行业趋势与人才需求热点。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5085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007BFF">
                <a:alpha val="8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4699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4699000"/>
            <a:ext cx="431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04 智能交互探索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921500" y="5080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构建基于RAG与Agent的智能交互系统，支持自然语言查询与深度分析，提供更自然的岗位检索体验。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969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6146800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333500" y="60960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数据源：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Himalayas 公开 Jobs API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381500" y="5969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0" y="61468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4953000" y="60960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数据规模：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12,000+ 全球岗位数据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001000" y="5969000"/>
            <a:ext cx="3429000" cy="63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91500" y="6146800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572500" y="60960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数据处理：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已完成清洗、去重与标准化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 人岗匹配算法设计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简历输入与标准化处理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24765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476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4384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文本智能提取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支持PDF/文本粘贴，利用pypdf库精准解析，提取无格式文本内容。</a:t>
            </a:r>
            <a:endParaRPr lang="en-US" sz="13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92500" y="2286000"/>
            <a:ext cx="24765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2476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064000" y="24384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数据清洗归一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移除HTML标签、URL及冗余标点，统一格式，消除非结构化噪声。</a:t>
            </a:r>
            <a:endParaRPr lang="en-US" sz="13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810000"/>
            <a:ext cx="24765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000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33500" y="39624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分词与技能归一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jieba分词处理，结合技能别名表，将同义词统一为标准技能词汇。</a:t>
            </a:r>
            <a:endParaRPr lang="en-US" sz="13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492500" y="3810000"/>
            <a:ext cx="24765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83000" y="4000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064000" y="39624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关键特征提取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自动识别工作经验年限，基于语义模型智能推断候选人岗位类别。</a:t>
            </a:r>
            <a:endParaRPr lang="en-US" sz="13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标准化处理确保了简历数据的一致性，为后续的精准匹配算法奠定坚实的数据基础。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651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 加权匹配评分模型 (0-100分)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2286000"/>
            <a:ext cx="5207000" cy="1048385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2413000"/>
            <a:ext cx="4953000" cy="7613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match_score = 0.55×技能 + 0.20×类别 + 0.15×经验 + 0.10×地点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基于多维度加权计算，突出核心技能匹配度，兼顾硬性条件与岗位契合度。</a:t>
            </a:r>
            <a:endParaRPr lang="en-US" sz="13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350000" y="3429000"/>
            <a:ext cx="5207000" cy="7620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77000" y="3644900"/>
            <a:ext cx="762000" cy="330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77000" y="36449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55%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366000" y="34925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技能相关性 (核心指标)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结合TF-IDF余弦相似度(70%)与技能集合重合率(30%)，精准衡量能力匹配度。</a:t>
            </a:r>
            <a:endParaRPr lang="en-US" sz="13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50000" y="4254500"/>
            <a:ext cx="5207000" cy="7620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77000" y="4470400"/>
            <a:ext cx="762000" cy="330200"/>
          </a:xfrm>
          <a:prstGeom prst="roundRect">
            <a:avLst>
              <a:gd name="adj" fmla="val 0"/>
            </a:avLst>
          </a:prstGeom>
          <a:solidFill>
            <a:srgbClr val="007B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477000" y="44704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20%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366000" y="43180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岗位类别匹配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简历推断类别与目标岗位一致得满分，否则为0，确保人岗大方向契合。</a:t>
            </a:r>
            <a:endParaRPr lang="en-US" sz="13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350000" y="5080000"/>
            <a:ext cx="5207000" cy="7620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477000" y="5295900"/>
            <a:ext cx="762000" cy="330200"/>
          </a:xfrm>
          <a:prstGeom prst="roundRect">
            <a:avLst>
              <a:gd name="adj" fmla="val 0"/>
            </a:avLst>
          </a:prstGeom>
          <a:solidFill>
            <a:srgbClr val="007B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477000" y="5295900"/>
            <a:ext cx="76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25%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66000" y="5143500"/>
            <a:ext cx="4191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经验年限与地点适配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经验匹配度按差距递减计算；地点匹配度则根据地域偏好或远程属性判定。</a:t>
            </a:r>
            <a:endParaRPr lang="en-US" sz="13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03 岗位聚类分析 (K-Means)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为揭示全球远程岗位市场的内在结构，我们采用K-Means算法对12,000个岗位数据进行深度聚类。通过科学的特征工程与多维度的指标评估，挖掘数据背后的群体特征与分布规律。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286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93800" y="22860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特征工程构建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7305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43A4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基于岗位标题、技能标签及描述，利用TF-IDF进行向量化处理，并通过降维技术优化特征空间，奠定聚类基础。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286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003800" y="22860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多维指标评估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27305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43A4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肘部法则显示K=6为拐点；轮廓系数在K=4时达到最大值0.1976，表明此时簇内相似度最高，分离度最好。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286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813800" y="22860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最优聚类决策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82000" y="27305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43A4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综合量化指标与业务场景的可解释性，最终选定 </a:t>
            </a:r>
            <a:r>
              <a:rPr lang="en-US" sz="1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K=4</a:t>
            </a:r>
            <a:r>
              <a:rPr lang="en-US" sz="1200" b="0" i="0" u="none" strike="noStrike">
                <a:solidFill>
                  <a:srgbClr val="343A40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作为最佳聚类数，实现模型性能与业务价值的平衡。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rcRect t="2350" b="2694"/>
          <a:stretch>
            <a:fillRect/>
          </a:stretch>
        </p:blipFill>
        <p:spPr>
          <a:xfrm>
            <a:off x="762000" y="3492500"/>
            <a:ext cx="5207000" cy="323024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 t="2780" b="2448"/>
          <a:stretch>
            <a:fillRect/>
          </a:stretch>
        </p:blipFill>
        <p:spPr>
          <a:xfrm>
            <a:off x="6223000" y="3606800"/>
            <a:ext cx="5207000" cy="308419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0365" y="102870"/>
            <a:ext cx="11049635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04 四类岗位集群解读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71780" y="96774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007BFF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62280" y="109474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云平台与DevOps工程岗位</a:t>
            </a: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 | 规模占比 26.7%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62280" y="147574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核心聚焦后端架构与云原生技术，涵盖软件开发、云架构设计与运维自动化，是支撑数字化业务稳定运行与弹性扩展的技术基石。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71780" y="376174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007BFF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62280" y="388874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03 销售与业务拓展岗位</a:t>
            </a: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 | 规模占比 67.2%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62280" y="426974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市场需求占比最高，核心围绕客户开发、商业价值转化与客户关系管理，是连接产品与市场、实现商业变现的核心驱动力。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71780" y="236474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007BFF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2280" y="249174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 企业应用与技术创新岗位</a:t>
            </a: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 | 规模占比 2.0%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2280" y="287274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聚焦企业级系统优化与数字化创新，涉及SAP开发、平台工程及企业级应用架构，推动业务模式的智能化升级与创新落地。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71780" y="5158740"/>
            <a:ext cx="5080000" cy="12065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007BFF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2280" y="528574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04 机器学习与人工智能岗位</a:t>
            </a: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 | 规模占比 4.0%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2280" y="566674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聚焦前沿智能技术研发，涵盖AI安全、模型评估、机器学习算法与大模型应用，为业务场景提供智能化决策支持与技术创新动力。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"/>
          <a:srcRect t="470" b="-2187"/>
          <a:stretch>
            <a:fillRect/>
          </a:stretch>
        </p:blipFill>
        <p:spPr>
          <a:xfrm>
            <a:off x="5567045" y="175260"/>
            <a:ext cx="6437630" cy="5145405"/>
          </a:xfrm>
          <a:prstGeom prst="rect">
            <a:avLst/>
          </a:prstGeom>
          <a:noFill/>
          <a:ln w="12700" cap="flat" cmpd="sng">
            <a:solidFill>
              <a:srgbClr val="007BFF">
                <a:alpha val="80000"/>
              </a:srgbClr>
            </a:solidFill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5819775" y="5488940"/>
            <a:ext cx="5935980" cy="1036955"/>
          </a:xfrm>
          <a:prstGeom prst="roundRect">
            <a:avLst>
              <a:gd name="adj" fmla="val 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010275" y="5590540"/>
            <a:ext cx="5592445" cy="8604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聚类分布洞察：</a:t>
            </a:r>
            <a:r>
              <a:rPr lang="en-US" sz="13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PCA投影图直观呈现四类岗位在特征空间中的分布差异，各聚类簇边界清晰，体现显著的技能与职责区分。销售类岗位占绝对主体，反映市场对商业化人才的旺盛需求；技术研发类岗位呈现更细分的聚集特征，体现技术领域的专业化分工与演进趋势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05 多模型横向对比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本项目构建了五个核心模块，分别服务于不同的业务目标。理解它们的差异是正确使用系统的关键，从基础的岗位评估到前沿的智能交互，各模块协同赋能招聘全流程的智能化升级。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2794000"/>
            <a:ext cx="317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岗位质量评分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343A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评估岗位信息完整度与透明度，构建高质量数据底座。</a:t>
            </a:r>
            <a:endParaRPr lang="en-US" sz="1200" b="0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43A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算法：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LR逻辑回归、XGBoost等强分类器。</a:t>
            </a:r>
            <a:endParaRPr lang="en-US" sz="1200" b="0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43A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指标：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Accuracy、F1-Score、ROC-AUC。</a:t>
            </a:r>
            <a:endParaRPr lang="en-US" sz="1200" b="0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381500" y="2667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508500" y="2794000"/>
            <a:ext cx="317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智能人岗匹配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343A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基于多维特征的简历与岗位Top-k精准排序。</a:t>
            </a:r>
            <a:endParaRPr lang="en-US" sz="1200" b="0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43A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算法：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TF-IDF + 余弦相似度 + 业务加权规则。</a:t>
            </a:r>
            <a:endParaRPr lang="en-US" sz="1200" b="0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43A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指标：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匹配综合得分、技能命中度、可解释性。</a:t>
            </a:r>
            <a:endParaRPr lang="en-US" sz="1200" b="0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001000" y="2667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128000" y="2794000"/>
            <a:ext cx="317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03 岗位市场聚类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343A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挖掘岗位市场的自然群组，洞察行业分布规律。</a:t>
            </a:r>
            <a:endParaRPr lang="en-US" sz="1200" b="0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43A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算法：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K-Means 聚类算法，结合行业特征优化。</a:t>
            </a:r>
            <a:endParaRPr lang="en-US" sz="1200" b="0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43A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指标：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轮廓系数、PCA可视化、业务可解释性。</a:t>
            </a:r>
            <a:endParaRPr lang="en-US" sz="1200" b="0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89000" y="4953000"/>
            <a:ext cx="5016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04 RAG 可追溯检索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43A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针对自然语言提问，实现可追溯、高精准的岗位召回，解决非结构化查询需求。</a:t>
            </a:r>
            <a:endParaRPr lang="en-US" sz="1200" b="0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43A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方案与指标：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FAISS 向量检索与 BGE Embedding 语义编码；核心指标关注 Hit@k、Precision@k 及 MRR。</a:t>
            </a:r>
            <a:endParaRPr lang="en-US" sz="1200" b="0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59500" y="4826000"/>
            <a:ext cx="5270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86500" y="4953000"/>
            <a:ext cx="5016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05 Agent 智能工作流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43A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目标：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组合多工具链，自主决策并执行复杂招聘任务，实现智能化的人机协同交互。</a:t>
            </a:r>
            <a:endParaRPr lang="en-US" sz="1200" b="0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43A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方案与指标：</a:t>
            </a: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兼容 OpenAI Function Calling，动态调用检索、匹配等工具；评估工具调用成功率与任务完成度。</a:t>
            </a:r>
            <a:endParaRPr lang="en-US" sz="1200" b="0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9860" y="314960"/>
            <a:ext cx="481266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06 岗位质量评分模型对比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84480" y="1330960"/>
            <a:ext cx="2916555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我们选取逻辑回归、SVM、随机森林和XGBoost四种经典模型进行多维度性能评估，旨在为岗位质量评分任务寻找最优方案。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49860" y="3832225"/>
            <a:ext cx="3432175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XGBoost</a:t>
            </a: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模型在F1分数、ROC-AUC等关键指标上表现最优，是本次任务的最佳选择。</a:t>
            </a:r>
            <a:endParaRPr lang="en-US" sz="110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2035" y="1171575"/>
            <a:ext cx="8325485" cy="5275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07 RAG检索增强生成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为了实现对岗位信息的智能问答，我们构建了基于检索增强生成（RAG）的知识库系统，通过高效的向量检索与语义理解，精准匹配用户的岗位查询需求，解决传统检索的语义鸿沟问题。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921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317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技术架构核心组件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367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937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38989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高性能向量存储：FAISS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IndexFlatIP 索引，实现海量向量的毫秒级近邻检索，为问答系统提供低延迟的检索支撑。</a:t>
            </a:r>
            <a:endParaRPr lang="en-US" sz="13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699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46609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语义嵌入模型：BAAI/bge-small-zh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将岗位文本转化为512维稠密语义向量，精准捕捉文本的深层语义信息，提升检索匹配度。</a:t>
            </a:r>
            <a:endParaRPr lang="en-US" sz="13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461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5422900"/>
            <a:ext cx="431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大规模知识库构建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对海量岗位信息进行智能分块处理，生成 55,984 个高质量文本 Chunk，构建完整的岗位知识图谱。</a:t>
            </a:r>
            <a:endParaRPr lang="en-US" sz="13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2921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317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 关键性能指标表现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367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3937000"/>
            <a:ext cx="1524000" cy="1397000"/>
          </a:xfrm>
          <a:prstGeom prst="roundRect">
            <a:avLst>
              <a:gd name="adj" fmla="val 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77000" y="4064000"/>
            <a:ext cx="152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50%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Query Hit@3</a:t>
            </a:r>
            <a:endParaRPr lang="en-US" sz="1300" b="1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有效命中符合要求岗位</a:t>
            </a:r>
            <a:endParaRPr lang="en-US" sz="11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191500" y="3937000"/>
            <a:ext cx="1524000" cy="1397000"/>
          </a:xfrm>
          <a:prstGeom prst="roundRect">
            <a:avLst>
              <a:gd name="adj" fmla="val 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191500" y="4064000"/>
            <a:ext cx="152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33%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Macro Precision</a:t>
            </a:r>
            <a:endParaRPr lang="en-US" sz="1300" b="1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结果与需求匹配精度</a:t>
            </a:r>
            <a:endParaRPr lang="en-US" sz="11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906000" y="3937000"/>
            <a:ext cx="1524000" cy="1397000"/>
          </a:xfrm>
          <a:prstGeom prst="roundRect">
            <a:avLst>
              <a:gd name="adj" fmla="val 0"/>
            </a:avLst>
          </a:prstGeom>
          <a:solidFill>
            <a:srgbClr val="EBF5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906000" y="4064000"/>
            <a:ext cx="152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100%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溯源完整率</a:t>
            </a:r>
            <a:endParaRPr lang="en-US" sz="1300" b="1" i="0" u="none" strike="noStrike">
              <a:solidFill>
                <a:srgbClr val="343A4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结果可追溯至原始信息</a:t>
            </a:r>
            <a:endParaRPr lang="en-US" sz="1100" b="0" i="0" u="none" strike="noStrike">
              <a:solidFill>
                <a:srgbClr val="6C757D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77000" y="55880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测试基于12个覆盖不同业务场景的真实问题进行，系统固定返回Top-3结果，确保了检索结果的实用性与可解释性，为用户提供精准、可靠的岗位推荐支持。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08 RAG性能可视化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下图呈现了12个测试问题在Precision@3指标上的表现。数据显示，针对特定领域的精准查询（如Q02、Q08、Q12），系统表现优异，准确率达到100%；而面对较为泛化的开放式查询时，性能仍有优化空间。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2158" b="3726"/>
          <a:stretch>
            <a:fillRect/>
          </a:stretch>
        </p:blipFill>
        <p:spPr>
          <a:xfrm>
            <a:off x="516890" y="1885315"/>
            <a:ext cx="9970135" cy="487934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8801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573385" y="1163320"/>
            <a:ext cx="1435100" cy="56013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分析总结：</a:t>
            </a:r>
            <a:r>
              <a:rPr lang="en-US" sz="1300" b="0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 系统在处理具备明确技术栈（如AWS、Docker）或具体岗位名称的查询时精准度极高，展现出强大的垂直领域检索能力。未来可通过优化检索召回策略与增强语义理解模型，进一步提升对复杂、泛化及隐含需求的处理能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09 Agent智能体工作流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Agent模块以自然语言交互为核心，通过智能调度机制将复杂任务拆解为自动化执行流程，动态组合工具链完成从意图理解到结果输出的端到端闭环，实现智能化的岗位分析与匹配。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635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 技术核心架构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635"/>
            <a:ext cx="3302000" cy="15240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302635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3302635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Function Calling 调度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747135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兼容OpenAI标准协议，大模型根据用户意图自主决策并调用适配工具，实现任务的动态拆解与执行。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3048635"/>
            <a:ext cx="3302000" cy="15240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3302635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3302635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原生模型真实决策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747135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启用 model_call=true 模式，拒绝静态规则预设，完全基于大模型生成决策逻辑，确保响应的灵活性与真实性。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3048635"/>
            <a:ext cx="3302000" cy="1524000"/>
          </a:xfrm>
          <a:prstGeom prst="roundRect">
            <a:avLst>
              <a:gd name="adj" fmla="val 0"/>
            </a:avLst>
          </a:prstGeom>
          <a:solidFill>
            <a:srgbClr val="F8F9FA">
              <a:alpha val="100000"/>
            </a:srgbClr>
          </a:solidFill>
          <a:ln w="12700" cap="flat" cmpd="sng">
            <a:solidFill>
              <a:srgbClr val="007BF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3302635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63000" y="3302635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高可用兜底机制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747135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当模型调用异常或无有效输出时，系统自动回退至本地规则路由，保障服务稳定性与业务连续性。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4889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 五大核心工具矩阵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334000"/>
            <a:ext cx="19304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" y="54864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244600" y="54864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search_jobs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14400" y="58039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多维度关键词检索，快速定位目标岗位信息。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959100" y="5334000"/>
            <a:ext cx="19304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11500" y="54864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3441700" y="54864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score_job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111500" y="58039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基于算法模型自动计算岗位质量分，量化评估价值。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156200" y="5334000"/>
            <a:ext cx="19304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308600" y="5486400"/>
            <a:ext cx="254000" cy="254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5638800" y="54864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match_resume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308600" y="58039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智能人岗匹配引擎，精准计算相似度输出高契合岗位。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353300" y="5334000"/>
            <a:ext cx="19304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05700" y="5486400"/>
            <a:ext cx="254000" cy="254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835900" y="54864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cluster_summary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505700" y="58039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岗位聚类统计分析，输出行业分布与市场趋势解读。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550400" y="5334000"/>
            <a:ext cx="1930400" cy="1016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02800" y="5486400"/>
            <a:ext cx="254000" cy="2540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10033000" y="5486400"/>
            <a:ext cx="139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retrieve_jobs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702800" y="58039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基于RAG技术增强检索，支持自然语言问答式查询。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26949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05003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>
                <a:solidFill>
                  <a:srgbClr val="45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汇报到此结束，感谢您的</a:t>
            </a:r>
            <a:r>
              <a:rPr lang="zh-CN" altLang="en-US" sz="1800">
                <a:solidFill>
                  <a:srgbClr val="45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聆听</a:t>
            </a:r>
            <a:r>
              <a:rPr lang="en-US" sz="1800">
                <a:solidFill>
                  <a:srgbClr val="455A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与指导。</a:t>
            </a:r>
            <a:endParaRPr lang="en-US" sz="1100"/>
          </a:p>
        </p:txBody>
      </p:sp>
      <p:sp>
        <p:nvSpPr>
          <p:cNvPr id="6" name="AutoShape 4"/>
          <p:cNvSpPr/>
          <p:nvPr/>
        </p:nvSpPr>
        <p:spPr>
          <a:xfrm>
            <a:off x="4559935" y="3394075"/>
            <a:ext cx="3048000" cy="50800"/>
          </a:xfrm>
          <a:prstGeom prst="roundRect">
            <a:avLst>
              <a:gd name="adj" fmla="val 0"/>
            </a:avLst>
          </a:prstGeom>
          <a:solidFill>
            <a:srgbClr val="2196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3502</Words>
  <Application>WPS 演示</Application>
  <PresentationFormat/>
  <Paragraphs>221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Thonburi</vt:lpstr>
      <vt:lpstr>Noto Sans SC</vt:lpstr>
      <vt:lpstr>宋体</vt:lpstr>
      <vt:lpstr>汉仪书宋二KW</vt:lpstr>
      <vt:lpstr>微软雅黑</vt:lpstr>
      <vt:lpstr>方正雅意黑 GB18030L2</vt:lpstr>
      <vt:lpstr>Arial Unicode MS</vt:lpstr>
      <vt:lpstr>Noto Sans SC</vt:lpstr>
      <vt:lpstr>苹方-简</vt:lpstr>
      <vt:lpstr>Apple Color Emoji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rir1</cp:lastModifiedBy>
  <cp:revision>3</cp:revision>
  <dcterms:created xsi:type="dcterms:W3CDTF">2026-09-17T14:47:24Z</dcterms:created>
  <dcterms:modified xsi:type="dcterms:W3CDTF">2026-09-17T14:47:24Z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{"Label":"1","ContentProducer":"001191110102MACQD9K64010000","ProduceID":"7686484592618343644","ReservedCode1":"","ContentPropagator":"","PropagateID":"","ReservedCode2":""}</vt:lpwstr>
  </property>
  <property fmtid="{D5CDD505-2E9C-101B-9397-08002B2CF9AE}" pid="3" name="KSOProductBuildVer">
    <vt:lpwstr>2052-12.1.28492.28492</vt:lpwstr>
  </property>
  <property fmtid="{D5CDD505-2E9C-101B-9397-08002B2CF9AE}" pid="4" name="ICV">
    <vt:lpwstr>5F9F72EB59D528C7A2E6AB6A8BC0C6C4_43</vt:lpwstr>
  </property>
</Properties>
</file>