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本页介绍项目主题、汇报范围和基本信息。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本页先把岗位质量的业务含义讲清楚，避免把信息完整度误读为企业信誉或录用概率。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本页用数据看板交代样本量、文件规模、重复情况和数据追溯方式。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本页展示清洗流水线：去重、类型标准化、薪资解析、文本清洗、分词、技能归一化和特征构造。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图表显示岗位样本偏向 Engineering 和 Data Science，因此后续分析需要注意类别结构差异。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本页强调薪资的样本边界，并用职级箱线图说明不同职级存在差异但仍有重叠。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本页说明技能标签既包含技术词，也包含职能和角色词；描述更长通常质量更高，但长度不等于质量。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日期图是本次 API 时间窗口快照；质量等级约一半为 High，仍有大量岗位处于 Medium。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本页是评分模型演示页，逐项展示 100 分由哪些信息维度构成，并强调业务边界。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本页说明标签如何从规则生成，以及模型输入和明确排除项，重点是避免确定性泄漏。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本页用真实测试集指标表和模型对比图，突出 XGBoost 的 F1=0.9140、ROC-AUC=0.9662。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本页把混淆矩阵、ROC 和特征重要性放在同一页，解释模型高分的含义与局限。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最后总结已完成工作与后续计划，明确 RAG、Agent 和部署仍属于后续工作。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week1_fin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week1_fin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1abea4c39ad9c18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0b840844f82fec3.png"/>
  <Relationship Id="rId3" Type="http://schemas.openxmlformats.org/officeDocument/2006/relationships/image" Target="../media/image_8c3d6603d20cc77f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07b25d7460dc821.png"/>
  <Relationship Id="rId3" Type="http://schemas.openxmlformats.org/officeDocument/2006/relationships/image" Target="../media/image_2833c5a3e59c9b24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faa764513b1e47b.png"/>
  <Relationship Id="rId3" Type="http://schemas.openxmlformats.org/officeDocument/2006/relationships/image" Target="../media/image_5314fa1e22c2193d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47b550d9fa91a4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bdfb6b1688dc786.png"/>
  <Relationship Id="rId3" Type="http://schemas.openxmlformats.org/officeDocument/2006/relationships/image" Target="../media/image_b3057176442f334a.png"/>
  <Relationship Id="rId4" Type="http://schemas.openxmlformats.org/officeDocument/2006/relationships/image" Target="../media/image_2dc9c9085be901e7.png"/>
  <Relationship Id="rId5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01155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11001375" y="171450"/>
            <a:ext cx="7286625" cy="9925050"/>
          </a:xfrm>
          <a:custGeom>
            <a:avLst/>
            <a:gdLst/>
            <a:ahLst/>
            <a:cxnLst/>
            <a:rect l="l" t="t" r="r" b="b"/>
            <a:pathLst>
              <a:path w="7286625" h="9925050">
                <a:moveTo>
                  <a:pt x="238125" y="0"/>
                </a:moveTo>
                <a:lnTo>
                  <a:pt x="7286625" y="0"/>
                </a:lnTo>
                <a:lnTo>
                  <a:pt x="7286625" y="9925050"/>
                </a:lnTo>
                <a:lnTo>
                  <a:pt x="3095625" y="9925050"/>
                </a:lnTo>
                <a:cubicBezTo>
                  <a:pt x="3000375" y="7639050"/>
                  <a:pt x="2428875" y="5734050"/>
                  <a:pt x="1190625" y="4114800"/>
                </a:cubicBezTo>
                <a:cubicBezTo>
                  <a:pt x="571500" y="3305175"/>
                  <a:pt x="0" y="2114550"/>
                  <a:pt x="238125" y="0"/>
                </a:cubicBezTo>
                <a:close/>
              </a:path>
            </a:pathLst>
          </a:custGeom>
          <a:solidFill>
            <a:srgbClr val="0D5B86">
              <a:alpha val="62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3906500" y="171450"/>
            <a:ext cx="4381500" cy="9925050"/>
          </a:xfrm>
          <a:custGeom>
            <a:avLst/>
            <a:gdLst/>
            <a:ahLst/>
            <a:cxnLst/>
            <a:rect l="l" t="t" r="r" b="b"/>
            <a:pathLst>
              <a:path w="4381500" h="9925050">
                <a:moveTo>
                  <a:pt x="714375" y="0"/>
                </a:moveTo>
                <a:lnTo>
                  <a:pt x="4381500" y="0"/>
                </a:lnTo>
                <a:lnTo>
                  <a:pt x="4381500" y="9925050"/>
                </a:lnTo>
                <a:lnTo>
                  <a:pt x="2286000" y="9925050"/>
                </a:lnTo>
                <a:cubicBezTo>
                  <a:pt x="2238375" y="7543800"/>
                  <a:pt x="1762125" y="5638800"/>
                  <a:pt x="809625" y="4210050"/>
                </a:cubicBezTo>
                <a:cubicBezTo>
                  <a:pt x="333375" y="3495675"/>
                  <a:pt x="0" y="1924050"/>
                  <a:pt x="714375" y="0"/>
                </a:cubicBezTo>
                <a:close/>
              </a:path>
            </a:pathLst>
          </a:custGeom>
          <a:solidFill>
            <a:srgbClr val="0A4A78">
              <a:alpha val="7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30630" y="19335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9CE3DE"/>
                </a:solidFill>
                <a:latin typeface="SimHei"/>
                <a:ea typeface="SimHei"/>
                <a:cs typeface="SimHei"/>
              </a:rPr>
              <a:t>行业大数据分析实践课程项目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2689860"/>
            <a:ext cx="795375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基于全球远程招聘岗位大数据的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3274695"/>
            <a:ext cx="5853684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岗位质量评分研究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6157" y="4411980"/>
            <a:ext cx="232957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DECE8"/>
                </a:solidFill>
                <a:latin typeface="SimHei"/>
                <a:ea typeface="SimHei"/>
                <a:cs typeface="SimHei"/>
              </a:rPr>
              <a:t>WEEK 1 中期汇报</a:t>
            </a:r>
          </a:p>
        </p:txBody>
      </p:sp>
      <p:sp>
        <p:nvSpPr>
          <p:cNvPr id="10" name="Line 10"/>
          <p:cNvSpPr/>
          <p:nvPr/>
        </p:nvSpPr>
        <p:spPr>
          <a:xfrm>
            <a:off x="1238250" y="52197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38100">
            <a:solidFill>
              <a:srgbClr val="4DBBB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29868" y="582263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D8EAF4"/>
                </a:solidFill>
                <a:latin typeface="SimHei"/>
                <a:ea typeface="SimHei"/>
                <a:cs typeface="SimHei"/>
              </a:rPr>
              <a:t>学生姓名：胡善辉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9868" y="6251258"/>
            <a:ext cx="1593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D8EAF4"/>
                </a:solidFill>
                <a:latin typeface="SimHei"/>
                <a:ea typeface="SimHei"/>
                <a:cs typeface="SimHei"/>
              </a:rPr>
              <a:t>班级：23大数据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9868" y="66798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D8EAF4"/>
                </a:solidFill>
                <a:latin typeface="SimHei"/>
                <a:ea typeface="SimHei"/>
                <a:cs typeface="SimHei"/>
              </a:rPr>
              <a:t>指导教师：钟瑛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9868" y="7108508"/>
            <a:ext cx="22046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D8EAF4"/>
                </a:solidFill>
                <a:latin typeface="SimHei"/>
                <a:ea typeface="SimHei"/>
                <a:cs typeface="SimHei"/>
              </a:rPr>
              <a:t>日期：2026年9月11日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238250" y="8382000"/>
            <a:ext cx="2476500" cy="495300"/>
          </a:xfrm>
          <a:prstGeom prst="roundRect">
            <a:avLst>
              <a:gd name="adj" fmla="val 23077"/>
            </a:avLst>
          </a:prstGeom>
          <a:solidFill>
            <a:srgbClr val="0B4E75"/>
          </a:solidFill>
          <a:ln w="19050">
            <a:solidFill>
              <a:srgbClr val="5CD4C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704984" y="8560118"/>
            <a:ext cx="15430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数据 · 规则 · 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研究背景与业务问题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02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90575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067800" y="2095500"/>
            <a:ext cx="84201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89482" y="2421255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项目聚焦两个已完成的问题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200150" y="3190875"/>
            <a:ext cx="6858000" cy="142875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200150" y="4972050"/>
            <a:ext cx="6858000" cy="1428750"/>
          </a:xfrm>
          <a:prstGeom prst="roundRect">
            <a:avLst>
              <a:gd name="adj" fmla="val 8000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69720" y="3405188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5332" y="3392805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岗位信息是否透明、完整？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8761" y="3894296"/>
            <a:ext cx="40288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评价招聘信息质量，帮助求职者理解信息边界。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9720" y="5186362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5332" y="5173980"/>
            <a:ext cx="426186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如何把质量分复现为可学习标签？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8761" y="5675471"/>
            <a:ext cx="28818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比较四类模型，并解释模型依据。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52432" y="24212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口径边界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3575" y="3102769"/>
            <a:ext cx="260242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岗位质量分 ≠ 企业好坏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53956" y="366331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不代表真实工作体验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53956" y="4215765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不代表薪酬竞争力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53956" y="476821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不代表候选人录用概率</a:t>
            </a:r>
          </a:p>
        </p:txBody>
      </p:sp>
      <p:sp>
        <p:nvSpPr>
          <p:cNvPr id="24" name="Line 24"/>
          <p:cNvSpPr/>
          <p:nvPr/>
        </p:nvSpPr>
        <p:spPr>
          <a:xfrm>
            <a:off x="9563100" y="5476875"/>
            <a:ext cx="7439025" cy="9525"/>
          </a:xfrm>
          <a:custGeom>
            <a:avLst/>
            <a:gdLst/>
            <a:ahLst/>
            <a:cxnLst/>
            <a:rect l="l" t="t" r="r" b="b"/>
            <a:pathLst>
              <a:path w="7439025" h="9525">
                <a:moveTo>
                  <a:pt x="0" y="0"/>
                </a:moveTo>
                <a:lnTo>
                  <a:pt x="7439025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556242" y="58359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研究对象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47098" y="6136958"/>
            <a:ext cx="460329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12,000 条全球远程岗位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55861" y="6780371"/>
            <a:ext cx="36746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city = Remote · Himalayas 公开 Jobs API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56242" y="7521892"/>
            <a:ext cx="27679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模型学习的是“信息质量代理标签”</a:t>
            </a:r>
          </a:p>
        </p:txBody>
      </p:sp>
      <p:sp>
        <p:nvSpPr>
          <p:cNvPr id="29" name="Line 29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数据范围与可追溯性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03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38862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00100" y="20955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3593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去重清洗岗位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5662" y="2659380"/>
            <a:ext cx="17158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12,000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8235" y="3212306"/>
            <a:ext cx="20963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全球远程岗位 · city = Remote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914900" y="2095500"/>
            <a:ext cx="38862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914900" y="20955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231892" y="23593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分页文件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0462" y="2659380"/>
            <a:ext cx="87620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600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33035" y="3212306"/>
            <a:ext cx="194888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每页约 20 条 · 原始响应保留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029700" y="2095500"/>
            <a:ext cx="38862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9029700" y="20955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29D3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46692" y="23593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重复记录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35262" y="2659380"/>
            <a:ext cx="31645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47835" y="3212306"/>
            <a:ext cx="15040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去重后仍为 12,000 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3144500" y="2095500"/>
            <a:ext cx="43434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3144500" y="20955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461492" y="23593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薪资可解析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50062" y="2659380"/>
            <a:ext cx="143595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5,185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62635" y="3212306"/>
            <a:ext cx="12703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薪资缺失 6,815 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" y="3905250"/>
            <a:ext cx="7810500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9029700" y="3905250"/>
            <a:ext cx="8458200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33856" y="41490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数据流与追溯链路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6523" y="4529614"/>
            <a:ext cx="32869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原始数据不可覆盖，结果可回到来源页核验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23825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61950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000750" y="5524500"/>
            <a:ext cx="1714500" cy="1143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661055" y="5838825"/>
            <a:ext cx="868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Jobs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04772" y="62045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公开岗位接口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91724" y="5838825"/>
            <a:ext cx="11700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原始 JSONL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09289" y="6204585"/>
            <a:ext cx="11349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600 个分页文件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46520" y="58388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清洗数据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1303" y="6204585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source_url 可回溯</a:t>
            </a:r>
          </a:p>
        </p:txBody>
      </p:sp>
      <p:sp>
        <p:nvSpPr>
          <p:cNvPr id="41" name="Line 41"/>
          <p:cNvSpPr/>
          <p:nvPr/>
        </p:nvSpPr>
        <p:spPr>
          <a:xfrm>
            <a:off x="2971800" y="60960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28575">
            <a:solidFill>
              <a:srgbClr val="8BAEC4"/>
            </a:solidFill>
          </a:ln>
        </p:spPr>
      </p:sp>
      <p:sp>
        <p:nvSpPr>
          <p:cNvPr id="42" name="Line 42"/>
          <p:cNvSpPr/>
          <p:nvPr/>
        </p:nvSpPr>
        <p:spPr>
          <a:xfrm>
            <a:off x="5353050" y="60960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28575">
            <a:solidFill>
              <a:srgbClr val="8BAEC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77756" y="414909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数据边界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80423" y="481536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时间窗口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74708" y="5017770"/>
            <a:ext cx="414617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2026.09.04 — 2026.09.08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80423" y="58154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保存方式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79280" y="6172200"/>
            <a:ext cx="30316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raw JSONL / API 响应保持不变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79280" y="6572250"/>
            <a:ext cx="30396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清洗结果写入 data/processed/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79280" y="6972300"/>
            <a:ext cx="30482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保留 crawl_time / data_origin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79280" y="7372350"/>
            <a:ext cx="30729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匹配结果可回到 source_url 核验</a:t>
            </a:r>
          </a:p>
        </p:txBody>
      </p:sp>
      <p:sp>
        <p:nvSpPr>
          <p:cNvPr id="51" name="Line 51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从原始岗位到可分析数据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04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6687800" cy="6096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89482" y="244030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清洗规范与特征工程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3673" y="2872264"/>
            <a:ext cx="43207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每一步都保留来源语义，避免把缺失值加工成业务结论。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200150" y="3667125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F2F8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21130" y="3952875"/>
            <a:ext cx="11700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原始 JSONL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2654" y="4337685"/>
            <a:ext cx="7552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12,000 条</a:t>
            </a:r>
          </a:p>
        </p:txBody>
      </p:sp>
      <p:sp>
        <p:nvSpPr>
          <p:cNvPr id="14" name="Line 14"/>
          <p:cNvSpPr/>
          <p:nvPr/>
        </p:nvSpPr>
        <p:spPr>
          <a:xfrm>
            <a:off x="4438650" y="42481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105400" y="3667125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EFFAF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26380" y="3952875"/>
            <a:ext cx="4191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去重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27904" y="4337685"/>
            <a:ext cx="682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重复 0 条</a:t>
            </a:r>
          </a:p>
        </p:txBody>
      </p:sp>
      <p:sp>
        <p:nvSpPr>
          <p:cNvPr id="18" name="Line 18"/>
          <p:cNvSpPr/>
          <p:nvPr/>
        </p:nvSpPr>
        <p:spPr>
          <a:xfrm>
            <a:off x="8343900" y="42481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9010650" y="3667125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F2F8F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231630" y="39528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字段标准化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3154" y="43376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类型 / 状态</a:t>
            </a:r>
          </a:p>
        </p:txBody>
      </p:sp>
      <p:sp>
        <p:nvSpPr>
          <p:cNvPr id="22" name="Line 22"/>
          <p:cNvSpPr/>
          <p:nvPr/>
        </p:nvSpPr>
        <p:spPr>
          <a:xfrm>
            <a:off x="12249150" y="42481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12915900" y="3667125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EFFAF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136880" y="395287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薪资解析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38404" y="43376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币种 · 周期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200150" y="5619750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F2F8F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421130" y="59055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文本清洗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2654" y="6290310"/>
            <a:ext cx="1437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HTML · URL · 空白</a:t>
            </a:r>
          </a:p>
        </p:txBody>
      </p:sp>
      <p:sp>
        <p:nvSpPr>
          <p:cNvPr id="29" name="Line 29"/>
          <p:cNvSpPr/>
          <p:nvPr/>
        </p:nvSpPr>
        <p:spPr>
          <a:xfrm>
            <a:off x="4438650" y="62007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105400" y="5619750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EFFAF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6380" y="5905500"/>
            <a:ext cx="9597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jieba 分词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27904" y="62903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中英文混合</a:t>
            </a:r>
          </a:p>
        </p:txBody>
      </p:sp>
      <p:sp>
        <p:nvSpPr>
          <p:cNvPr id="33" name="Line 33"/>
          <p:cNvSpPr/>
          <p:nvPr/>
        </p:nvSpPr>
        <p:spPr>
          <a:xfrm>
            <a:off x="8343900" y="62007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9010650" y="5619750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F2F8F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231630" y="59055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技能归一化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33154" y="6290310"/>
            <a:ext cx="880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Golang → Go</a:t>
            </a:r>
          </a:p>
        </p:txBody>
      </p:sp>
      <p:sp>
        <p:nvSpPr>
          <p:cNvPr id="37" name="Line 37"/>
          <p:cNvSpPr/>
          <p:nvPr/>
        </p:nvSpPr>
        <p:spPr>
          <a:xfrm>
            <a:off x="12249150" y="62007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A2BDCC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12915900" y="5619750"/>
            <a:ext cx="3238500" cy="1162050"/>
          </a:xfrm>
          <a:prstGeom prst="roundRect">
            <a:avLst>
              <a:gd name="adj" fmla="val 8197"/>
            </a:avLst>
          </a:prstGeom>
          <a:solidFill>
            <a:srgbClr val="EFFAF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3136880" y="59055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特征构造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138404" y="629031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长度 · 结构 · 时效</a:t>
            </a:r>
          </a:p>
        </p:txBody>
      </p:sp>
      <p:sp>
        <p:nvSpPr>
          <p:cNvPr id="41" name="Rectangle 41"/>
          <p:cNvSpPr/>
          <p:nvPr/>
        </p:nvSpPr>
        <p:spPr>
          <a:xfrm>
            <a:off x="1200150" y="7667625"/>
            <a:ext cx="1552575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374267" y="7817168"/>
            <a:ext cx="6393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65A1B"/>
                </a:solidFill>
                <a:latin typeface="SimHei"/>
                <a:ea typeface="SimHei"/>
                <a:cs typeface="SimHei"/>
              </a:rPr>
              <a:t>保留 Python、C++、.NET 等技能符号；薪资缺失保留空值并记录解析状态。</a:t>
            </a:r>
          </a:p>
        </p:txBody>
      </p:sp>
      <p:sp>
        <p:nvSpPr>
          <p:cNvPr id="43" name="Line 43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257632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岗位宽类分布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05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066800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811000" y="2095500"/>
            <a:ext cx="5676900" cy="66675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31" y="2428875"/>
            <a:ext cx="9461138" cy="5715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164568" y="25460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核心观察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59234" y="2966085"/>
            <a:ext cx="21564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Engineering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73987" y="3071336"/>
            <a:ext cx="1987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2,792 条 · 23.3%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59234" y="3537585"/>
            <a:ext cx="237944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Data Science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73987" y="3642836"/>
            <a:ext cx="198740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2,199 条 · 18.3%</a:t>
            </a:r>
          </a:p>
        </p:txBody>
      </p:sp>
      <p:sp>
        <p:nvSpPr>
          <p:cNvPr id="16" name="Line 16"/>
          <p:cNvSpPr/>
          <p:nvPr/>
        </p:nvSpPr>
        <p:spPr>
          <a:xfrm>
            <a:off x="12172950" y="4286250"/>
            <a:ext cx="4819650" cy="9525"/>
          </a:xfrm>
          <a:custGeom>
            <a:avLst/>
            <a:gdLst/>
            <a:ahLst/>
            <a:cxnLst/>
            <a:rect l="l" t="t" r="r" b="b"/>
            <a:pathLst>
              <a:path w="4819650" h="9525">
                <a:moveTo>
                  <a:pt x="0" y="0"/>
                </a:moveTo>
                <a:lnTo>
                  <a:pt x="481965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164568" y="46415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业务洞察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64949" y="5163979"/>
            <a:ext cx="299379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样本明显偏向技术和数据岗位。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64949" y="5640229"/>
            <a:ext cx="320649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后续模型与聚类建议按类别分层。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64949" y="6116479"/>
            <a:ext cx="405729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求职者可先确定目标类别，再做技能匹配。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2172950" y="7315200"/>
            <a:ext cx="4476750" cy="781050"/>
          </a:xfrm>
          <a:prstGeom prst="roundRect">
            <a:avLst>
              <a:gd name="adj" fmla="val 12195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131450" y="7520464"/>
            <a:ext cx="25597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数据源：12,000 条去重清洗岗位</a:t>
            </a:r>
          </a:p>
        </p:txBody>
      </p:sp>
      <p:sp>
        <p:nvSpPr>
          <p:cNvPr id="23" name="Line 23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薪资分布与职级关系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06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810500" cy="6096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067800" y="2095500"/>
            <a:ext cx="8420100" cy="60960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89" y="2476500"/>
            <a:ext cx="7112172" cy="447675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514" y="2476500"/>
            <a:ext cx="6605622" cy="447675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047750" y="7162800"/>
            <a:ext cx="7334250" cy="685800"/>
          </a:xfrm>
          <a:prstGeom prst="roundRect">
            <a:avLst>
              <a:gd name="adj" fmla="val 13889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51204" y="7328535"/>
            <a:ext cx="14395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有效 USD 年薪样本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7832" y="7259955"/>
            <a:ext cx="12093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4,592 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5880" y="7296150"/>
            <a:ext cx="16175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中位数 $121,550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315450" y="7162800"/>
            <a:ext cx="790575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518904" y="7328535"/>
            <a:ext cx="18409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Executive 年薪中位数约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05207" y="7259955"/>
            <a:ext cx="132741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$226,250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7092" y="8379142"/>
            <a:ext cx="67825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洞察：薪资只代表主动披露 USD 的透明子样本；未披露薪资不能自动视为低薪。</a:t>
            </a:r>
          </a:p>
        </p:txBody>
      </p:sp>
      <p:sp>
        <p:nvSpPr>
          <p:cNvPr id="20" name="Line 20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技能与岗位描述分析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07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99060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049000" y="2095500"/>
            <a:ext cx="64389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157" y="2428875"/>
            <a:ext cx="7421785" cy="495300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785910"/>
            <a:ext cx="5619750" cy="3572180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1430000" y="6953250"/>
            <a:ext cx="5619750" cy="857250"/>
          </a:xfrm>
          <a:prstGeom prst="roundRect">
            <a:avLst>
              <a:gd name="adj" fmla="val 11111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614404" y="7128510"/>
            <a:ext cx="1174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Spearman 相关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02284" y="7042785"/>
            <a:ext cx="8670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0.67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52142" y="7112318"/>
            <a:ext cx="15053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描述长度 ↔ 质量分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1618" y="80514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核心观察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2380" y="8486775"/>
            <a:ext cx="33072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sales 出现 728 次，为最高频标签。</a:t>
            </a:r>
          </a:p>
        </p:txBody>
      </p:sp>
      <p:sp>
        <p:nvSpPr>
          <p:cNvPr id="18" name="Line 1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岗位发布时间与质量等级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08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99060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049000" y="2095500"/>
            <a:ext cx="6438900" cy="61912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36" y="2619375"/>
            <a:ext cx="7727228" cy="400050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641899"/>
            <a:ext cx="5619750" cy="3955451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1143000" y="6953250"/>
            <a:ext cx="8953500" cy="838200"/>
          </a:xfrm>
          <a:prstGeom prst="roundRect">
            <a:avLst>
              <a:gd name="adj" fmla="val 11364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65504" y="7138035"/>
            <a:ext cx="16421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2026.09.06 岗位数量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6022" y="7055168"/>
            <a:ext cx="164131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3,699 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98642" y="7121842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时间窗口快照，不代表完整市场趋势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0856" y="6806565"/>
            <a:ext cx="23663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High 6,071 · 50.6%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0856" y="7235190"/>
            <a:ext cx="2740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Medium 5,855 · 48.8%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20856" y="7663815"/>
            <a:ext cx="17810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Low 74 · 0.6%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23523" y="8291989"/>
            <a:ext cx="34169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规则：≥80 High · 60–79 Medium · &lt;60 Low</a:t>
            </a:r>
          </a:p>
        </p:txBody>
      </p:sp>
      <p:sp>
        <p:nvSpPr>
          <p:cNvPr id="20" name="Line 20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岗位质量如何量化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09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057275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696700" y="2095500"/>
            <a:ext cx="5791200" cy="666750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0432" y="2421255"/>
            <a:ext cx="46618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岗位质量 = 信息透明度 + 信息完整度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623" y="2872264"/>
            <a:ext cx="31059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总分 100，不评价企业信誉或录用概率。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442" y="34261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追溯字段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33909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381375" y="33909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221955" y="34261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5 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0442" y="39214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核心字段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81375" y="38862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381375" y="3886200"/>
            <a:ext cx="285750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117002" y="39214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10 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442" y="44167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地点限制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381375" y="43815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381375" y="43815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221955" y="44167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5 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0442" y="49120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描述完整性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81375" y="48768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3381375" y="4876800"/>
            <a:ext cx="7143750" cy="266700"/>
          </a:xfrm>
          <a:prstGeom prst="roundRect">
            <a:avLst>
              <a:gd name="adj" fmla="val 21429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117002" y="49120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25 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0442" y="54073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薪资透明度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381375" y="53721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3381375" y="5372100"/>
            <a:ext cx="42862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117002" y="54073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15 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0442" y="59026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技能清晰度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381375" y="58674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3381375" y="5867400"/>
            <a:ext cx="5715000" cy="266700"/>
          </a:xfrm>
          <a:prstGeom prst="roundRect">
            <a:avLst>
              <a:gd name="adj" fmla="val 21429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17002" y="59026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20 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0442" y="63979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职级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381375" y="63627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381375" y="6362700"/>
            <a:ext cx="285750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117002" y="6397942"/>
            <a:ext cx="4626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10 分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0442" y="68932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时效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381375" y="68580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3381375" y="68580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1955" y="68932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5 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50442" y="73885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岗位类别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381375" y="7353300"/>
            <a:ext cx="6858000" cy="266700"/>
          </a:xfrm>
          <a:prstGeom prst="roundRect">
            <a:avLst>
              <a:gd name="adj" fmla="val 21429"/>
            </a:avLst>
          </a:prstGeom>
          <a:solidFill>
            <a:srgbClr val="EDF4F8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3381375" y="7353300"/>
            <a:ext cx="1428750" cy="266700"/>
          </a:xfrm>
          <a:prstGeom prst="roundRect">
            <a:avLst>
              <a:gd name="adj" fmla="val 21429"/>
            </a:avLst>
          </a:prstGeom>
          <a:solidFill>
            <a:srgbClr val="1769A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21955" y="7388542"/>
            <a:ext cx="3576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5 分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2049125" y="3143250"/>
            <a:ext cx="5067300" cy="1809750"/>
          </a:xfrm>
          <a:prstGeom prst="roundRect">
            <a:avLst>
              <a:gd name="adj" fmla="val 6316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326493" y="34223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评分依据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28398" y="3891439"/>
            <a:ext cx="33601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source_url / crawl_time / data_origin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328398" y="4243864"/>
            <a:ext cx="18076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职责 · 要求 · 福利结构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328398" y="4596289"/>
            <a:ext cx="24253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薪资、技能、职级、时效、类别</a:t>
            </a:r>
          </a:p>
        </p:txBody>
      </p:sp>
      <p:sp>
        <p:nvSpPr>
          <p:cNvPr id="53" name="Rectangle 53"/>
          <p:cNvSpPr/>
          <p:nvPr/>
        </p:nvSpPr>
        <p:spPr>
          <a:xfrm>
            <a:off x="12049125" y="5524500"/>
            <a:ext cx="5067300" cy="2095500"/>
          </a:xfrm>
          <a:prstGeom prst="roundRect">
            <a:avLst>
              <a:gd name="adj" fmla="val 5455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2326493" y="580358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解释边界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327255" y="62484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分数高：招聘信息更透明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327255" y="66579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不等于企业更好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327255" y="70675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不等于岗位一定更值得投递</a:t>
            </a:r>
          </a:p>
        </p:txBody>
      </p:sp>
      <p:sp>
        <p:nvSpPr>
          <p:cNvPr id="58" name="Line 5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42725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从规则评分到监督学习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10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905750" cy="64770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067800" y="2095500"/>
            <a:ext cx="8420100" cy="64770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89482" y="244030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建模定义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200150" y="3190875"/>
            <a:ext cx="6667500" cy="1285875"/>
          </a:xfrm>
          <a:prstGeom prst="roundRect">
            <a:avLst>
              <a:gd name="adj" fmla="val 8889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69720" y="3395662"/>
            <a:ext cx="2853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quality_score ≥ 80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3149" y="3925729"/>
            <a:ext cx="21429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标记为高信息质量标签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2149" y="4735354"/>
            <a:ext cx="426999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模型学习的是规则生成的信息质量代理标签。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2149" y="5278279"/>
            <a:ext cx="2355698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不是预测真实录用结果。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57182" y="2440305"/>
            <a:ext cx="205891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训练 / 测试划分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61373" y="319611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总数据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95760" y="3076575"/>
            <a:ext cx="142985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12,000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1373" y="403431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训练集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98046" y="3963352"/>
            <a:ext cx="10171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9,600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61373" y="4872514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测试集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98046" y="4801552"/>
            <a:ext cx="10171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2,400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1373" y="5710714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固定随机种子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98046" y="563022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42</a:t>
            </a:r>
          </a:p>
        </p:txBody>
      </p:sp>
      <p:sp>
        <p:nvSpPr>
          <p:cNvPr id="25" name="Line 25"/>
          <p:cNvSpPr/>
          <p:nvPr/>
        </p:nvSpPr>
        <p:spPr>
          <a:xfrm>
            <a:off x="9467850" y="6381750"/>
            <a:ext cx="7534275" cy="9525"/>
          </a:xfrm>
          <a:custGeom>
            <a:avLst/>
            <a:gdLst/>
            <a:ahLst/>
            <a:cxnLst/>
            <a:rect l="l" t="t" r="r" b="b"/>
            <a:pathLst>
              <a:path w="7534275" h="9525">
                <a:moveTo>
                  <a:pt x="0" y="0"/>
                </a:moveTo>
                <a:lnTo>
                  <a:pt x="7534275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460611" y="6799421"/>
            <a:ext cx="550886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输入：TF-IDF、描述结构、技能数、地点、时间、经验、宽类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60992" y="7302818"/>
            <a:ext cx="55839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排除：quality_score、规则分项、薪资披露标记、币种、周期、标签</a:t>
            </a:r>
          </a:p>
        </p:txBody>
      </p:sp>
      <p:sp>
        <p:nvSpPr>
          <p:cNvPr id="28" name="Line 2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四种模型评估结果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11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10287000" cy="66675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430000" y="2095500"/>
            <a:ext cx="6057900" cy="66675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96" y="2571750"/>
            <a:ext cx="8794559" cy="557212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801094" y="2456498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测试集指标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05285" y="3117056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10160" y="3117056"/>
            <a:ext cx="2775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Acc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15035" y="3117056"/>
            <a:ext cx="3646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Prec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19910" y="3117056"/>
            <a:ext cx="2775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Rec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24785" y="3117056"/>
            <a:ext cx="195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F1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29660" y="3117056"/>
            <a:ext cx="2874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AUC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1658600" y="340995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805285" y="3593306"/>
            <a:ext cx="1445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Logistic Regression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1016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0.8775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15035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0.8885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1991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0.8666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24785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0.8774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329660" y="35933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0.9417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1658600" y="422910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805285" y="4412456"/>
            <a:ext cx="306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SVM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1016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0.8729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15035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0.8816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1991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0.8649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424785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0.8732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329660" y="441245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0.9381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1658600" y="504825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05285" y="5231606"/>
            <a:ext cx="10920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Random Forest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71016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0.8738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15035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0.8930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51991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0.8526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424785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0.8723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329660" y="5231606"/>
            <a:ext cx="5089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0.9444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1658600" y="5867400"/>
            <a:ext cx="5448300" cy="609600"/>
          </a:xfrm>
          <a:prstGeom prst="roundRect">
            <a:avLst>
              <a:gd name="adj" fmla="val 12500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805285" y="6050756"/>
            <a:ext cx="6357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XGBoost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1016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0.9142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15035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0.9271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51991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0.9012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424785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0.9140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329660" y="6050756"/>
            <a:ext cx="5338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0.9662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1658600" y="7239000"/>
            <a:ext cx="54483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899011" y="7466171"/>
            <a:ext cx="39679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结论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897487" y="7767161"/>
            <a:ext cx="247394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XGBoost 综合表现最好</a:t>
            </a:r>
          </a:p>
        </p:txBody>
      </p:sp>
      <p:sp>
        <p:nvSpPr>
          <p:cNvPr id="49" name="Line 49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模型可解释性与局限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12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239000" cy="64770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343900" y="2095500"/>
            <a:ext cx="914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343900" y="5524500"/>
            <a:ext cx="914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791" y="2571750"/>
            <a:ext cx="5462668" cy="5191125"/>
          </a:xfrm>
          <a:prstGeom prst="rect">
            <a:avLst/>
          </a:prstGeom>
        </p:spPr>
      </p:pic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594" y="2476500"/>
            <a:ext cx="3022712" cy="2571750"/>
          </a:xfrm>
          <a:prstGeom prst="rect">
            <a:avLst/>
          </a:prstGeom>
        </p:spPr>
      </p:pic>
      <p:pic>
        <p:nvPicPr>
          <p:cNvPr id="13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418" y="5905500"/>
            <a:ext cx="3611064" cy="2286000"/>
          </a:xfrm>
          <a:prstGeom prst="rect">
            <a:avLst/>
          </a:prstGeom>
        </p:spPr>
      </p:pic>
      <p:sp>
        <p:nvSpPr>
          <p:cNvPr id="14" name="Rectangle 14"/>
          <p:cNvSpPr/>
          <p:nvPr/>
        </p:nvSpPr>
        <p:spPr>
          <a:xfrm>
            <a:off x="1047750" y="7981950"/>
            <a:ext cx="6762750" cy="438150"/>
          </a:xfrm>
          <a:prstGeom prst="roundRect">
            <a:avLst>
              <a:gd name="adj" fmla="val 17391"/>
            </a:avLst>
          </a:prstGeom>
          <a:solidFill>
            <a:srgbClr val="EAF4F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32154" y="8138160"/>
            <a:ext cx="3469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769AA"/>
                </a:solidFill>
                <a:latin typeface="SimHei"/>
                <a:ea typeface="SimHei"/>
                <a:cs typeface="SimHei"/>
              </a:rPr>
              <a:t>混淆矩阵看分类错误；ROC 看排序区分能力。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60130" y="5219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29D38"/>
                </a:solidFill>
                <a:latin typeface="SimHei"/>
                <a:ea typeface="SimHei"/>
                <a:cs typeface="SimHei"/>
              </a:rPr>
              <a:t>解释口径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61273" y="8339614"/>
            <a:ext cx="44931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特征重要性说明模型如何复现规则标签，不代表因果影响。</a:t>
            </a:r>
          </a:p>
        </p:txBody>
      </p:sp>
      <p:sp>
        <p:nvSpPr>
          <p:cNvPr id="18" name="Line 18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10A9A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71450"/>
            <a:ext cx="18288000" cy="1428750"/>
          </a:xfrm>
          <a:prstGeom prst="rect">
            <a:avLst/>
          </a:prstGeom>
          <a:solidFill>
            <a:srgbClr val="083B6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00100" y="619125"/>
            <a:ext cx="76200" cy="552450"/>
          </a:xfrm>
          <a:prstGeom prst="roundRect">
            <a:avLst>
              <a:gd name="adj" fmla="val 50000"/>
            </a:avLst>
          </a:prstGeom>
          <a:solidFill>
            <a:srgbClr val="10A9A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26998" y="65055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项目总结与后续工作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142" y="1178242"/>
            <a:ext cx="2778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6E9F6"/>
                </a:solidFill>
                <a:latin typeface="SimHei"/>
                <a:ea typeface="SimHei"/>
                <a:cs typeface="SimHei"/>
              </a:rPr>
              <a:t>WEEK 1 · 全球远程岗位数据分析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04048" y="861060"/>
            <a:ext cx="5804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CFE7F2"/>
                </a:solidFill>
                <a:latin typeface="SimHei"/>
                <a:ea typeface="SimHei"/>
                <a:cs typeface="SimHei"/>
              </a:rPr>
              <a:t>13 / 13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2095500"/>
            <a:ext cx="7905750" cy="657225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067800" y="2095500"/>
            <a:ext cx="8420100" cy="657225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89482" y="2421255"/>
            <a:ext cx="86944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已完成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2149" y="3049429"/>
            <a:ext cx="366273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✓ 12,000 条全球远程岗位采集与去重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2149" y="3563779"/>
            <a:ext cx="375366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✓ 清洗、特征工程与 7 张业务可视化图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2149" y="4078129"/>
            <a:ext cx="308153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✓ 100 分岗位信息质量评分体系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2149" y="4592479"/>
            <a:ext cx="370953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✓ 四类模型训练、评估与可解释性分析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2149" y="5106829"/>
            <a:ext cx="3071432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✓ 中期汇报材料与课程交付文档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57182" y="2421255"/>
            <a:ext cx="86944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83B6F"/>
                </a:solidFill>
                <a:latin typeface="SimHei"/>
                <a:ea typeface="SimHei"/>
                <a:cs typeface="SimHei"/>
              </a:rPr>
              <a:t>下一步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9849" y="3049429"/>
            <a:ext cx="325870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9089" indent="-179089">
              <a:buClr>
                <a:srgbClr val="17324D"/>
              </a:buClr>
              <a:buSzTx/>
              <a:buFontTx/>
              <a:buChar char="•"/>
            </a:pPr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Top-k 结果进行人工相关性标注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59849" y="3563779"/>
            <a:ext cx="210938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9089" indent="-179089">
              <a:buClr>
                <a:srgbClr val="17324D"/>
              </a:buClr>
              <a:buSzTx/>
              <a:buFontTx/>
              <a:buChar char="•"/>
            </a:pPr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双人标注一致性评估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9849" y="4078129"/>
            <a:ext cx="2109387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9089" indent="-179089">
              <a:buClr>
                <a:srgbClr val="17324D"/>
              </a:buClr>
              <a:buSzTx/>
              <a:buFontTx/>
              <a:buChar char="•"/>
            </a:pPr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句向量召回作为补充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59849" y="4592479"/>
            <a:ext cx="296018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9089" indent="-179089">
              <a:buClr>
                <a:srgbClr val="17324D"/>
              </a:buClr>
              <a:buSzTx/>
              <a:buFontTx/>
              <a:buChar char="•"/>
            </a:pPr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技能词表抽样检查与岗位聚类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9849" y="5106829"/>
            <a:ext cx="333371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79089" indent="-179089">
              <a:buClr>
                <a:srgbClr val="17324D"/>
              </a:buClr>
              <a:buSzTx/>
              <a:buFontTx/>
              <a:buChar char="•"/>
            </a:pPr>
            <a:r>
              <a:rPr lang="zh-CN" sz="158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后续再开展 RAG / Agent / 部署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467850" y="6572250"/>
            <a:ext cx="6191250" cy="1047750"/>
          </a:xfrm>
          <a:prstGeom prst="roundRect">
            <a:avLst>
              <a:gd name="adj" fmla="val 10909"/>
            </a:avLst>
          </a:prstGeom>
          <a:solidFill>
            <a:srgbClr val="E9FBF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863959" y="6744652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0A9A1"/>
                </a:solidFill>
                <a:latin typeface="SimHei"/>
                <a:ea typeface="SimHei"/>
                <a:cs typeface="SimHei"/>
              </a:rPr>
              <a:t>谢谢聆听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10847" y="7232332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7324D"/>
                </a:solidFill>
                <a:latin typeface="SimHei"/>
                <a:ea typeface="SimHei"/>
                <a:cs typeface="SimHei"/>
              </a:rPr>
              <a:t>问题讨论</a:t>
            </a:r>
          </a:p>
        </p:txBody>
      </p:sp>
      <p:sp>
        <p:nvSpPr>
          <p:cNvPr id="25" name="Line 25"/>
          <p:cNvSpPr/>
          <p:nvPr/>
        </p:nvSpPr>
        <p:spPr>
          <a:xfrm>
            <a:off x="800100" y="9667875"/>
            <a:ext cx="16687800" cy="9525"/>
          </a:xfrm>
          <a:custGeom>
            <a:avLst/>
            <a:gdLst/>
            <a:ahLst/>
            <a:cxnLst/>
            <a:rect l="l" t="t" r="r" b="b"/>
            <a:pathLst>
              <a:path w="16687800" h="9525">
                <a:moveTo>
                  <a:pt x="0" y="0"/>
                </a:moveTo>
                <a:lnTo>
                  <a:pt x="16687800" y="0"/>
                </a:lnTo>
              </a:path>
            </a:pathLst>
          </a:custGeom>
          <a:noFill/>
          <a:ln w="19050">
            <a:solidFill>
              <a:srgbClr val="D8E6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94766" y="9840278"/>
            <a:ext cx="36857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数据口径：仅依据《可视化分析报告》《数据预处理文档》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319306" y="9840278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62778B"/>
                </a:solidFill>
                <a:latin typeface="SimHei"/>
                <a:ea typeface="SimHei"/>
                <a:cs typeface="Sim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_week1_final">
  <a:themeElements>
    <a:clrScheme name="ppt_week1_fin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week1_fina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week1_fin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_week1_final">
  <a:themeElements>
    <a:clrScheme name="ppt_week1_fin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week1_fina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week1_fin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2026-09-09T06:04:22Z</dcterms:created>
  <dcterms:modified xsi:type="dcterms:W3CDTF">2026-09-09T06:04:22Z</dcterms:modified>
  <cp:category/>
  <cp:contentStatus/>
</cp:coreProperties>
</file>