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69" r:id="rId24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96" userDrawn="1">
          <p15:clr>
            <a:srgbClr val="747775"/>
          </p15:clr>
        </p15:guide>
        <p15:guide id="2" pos="288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96"/>
        <p:guide pos="288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大家好，今天我将向大家汇报我们项目在数据处理阶段的工作。本次汇报的主题是“基于全球远程招聘岗位大数据的岗位质量评分与人岗匹配研究”。我们将重点介绍如何从原始、异构的API数据中，清洗、转换并构造出可供深度分析的结构化数据集。高质量的数据是后续所有分析和建模工作的基石，希望通过本次汇报，能让大家对我们的数据处理流程和成果有一个清晰的了解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首先，让我们明确项目的背景和目标。我们的项目主要有两个核心研究方向：一是构建岗位质量评分模型，二是开发人岗匹配算法。本次汇报将聚焦于项目的基础——数据预处理。我们的数据来源于Himalayas公开的Jobs API，采集了2026年9月8日的全球远程岗位数据，总共有12,000条记录。这些数据是我们后续所有分析工作的基础。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为了保证数据质量，我们设定了五个明确的处理目标：完整性、一致性、准确性、可追溯性和特征工程。同时，我们遵循三个核心原则：首先，绝对保护原始数据，所有处理都在副本上进行；其次，确保每条数据都可追溯到源头；最后，我们绝不伪造业务值，对于缺失的数据，我们选择保留空值，以保证分析的真实性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这是我们数据处理的总体流程图。整个流程从原始的分页JSONL文件开始，经过合并、去重、缺失值审计、字段标准化、薪资经验解析、异常值标记、文本清洗、技能归一化和特征构造等一系列步骤，最终输出多种格式的数据集。每一步都经过精心设计，确保了整个过程的严谨性和可复现性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接下来看一下我们的数据规模和可追溯性。我们总共处理了12,000条岗位数据，分布在600个文件中。令人欣慰的是，数据中没有重复记录。其中，有5,185条记录的薪资信息是可以解析的。我们建立了完整的数据追溯链路，从原始API到最终的清洗数据，每一步都清晰可查，确保了数据的可信度和可验证性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在数据处理的第一步，我们进行了合并与去重。我们设计了三层去重策略，优先使用数据源提供的唯一ID，其次是岗位URL，最后是业务组合键。处理结果显示，我们输入的12,000条记录全部都是唯一的，没有发现任何重复数据。这表明我们本次采集的数据质量非常高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接下来是缺失值审计。我们检查了关键字段的完整性。可以看到，像岗位ID、标题和描述这些核心字段都是完整的。但值得注意的是，薪资字段的缺失率高达56.8%，这真实反映了当前远程招聘市场薪资信息不透明的现状。我们选择保留这些缺失值，而不是用默认值填充，以确保后续分析的准确性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为了让数据更易于分析，我们进行了字段类型的标准化。例如，我们将原始的薪资字符串解析成了包含币种、周期和具体金额范围的结构化数据；将经验要求映射为具体的年限区间；将发布日期转换为距离采集日的天数。这些标准化工作使得原本无法直接计算的字符串数据，变成了可以进行深度分析的量化指标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在薪资和经验解析方面，我们做了大量工作。对于薪资，我们能识别多种表达方式，并将其统一转换为年薪化数值，方便进行比较。总共有5,185条记录的薪资可以被成功解析。对于经验，我们将平台提供的职级，如Senior、Mid-level等，映射为具体的经验年限区间，这使得所有12,000条记录都具备了可量化的经验指标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对于异常值，我们采取了谨慎的处理策略。我们没有直接删除这些记录，而是选择先标记它们。我们定义了三条异常规则，比如年薪过高或过低。最终，我们标记了31条异常薪资记录，并新增了一个字段来追踪它们。这样，在进行需要排除异常值的稳健统计时，我们可以轻松地将它们过滤掉，同时保留了原始数据的完整性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在文本处理方面，我们首先进行了文本清洗，包括统一格式、移除噪声，并特别保留了像C++、.NET这样的技术符号。然后使用Jieba进行分词，为后续的文本建模做好准备。更重要的是，我们通过特征工程，构造了几个关键的衍生指标，比如岗位描述长度、技能数量，以及一个综合评估信息透明度的质量分。这些新特征将极大地丰富我们后续的分析维度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经过一系列处理，我们对最终的数据质量进行了验收。结果非常理想：我们保留了全部12,000条有效记录，数据无重复，核心字段完整，且每条记录都可追溯。特别值得一提的是，我们构建了一个信息质量评分，它综合评估了招聘信息的透明度。这个评分将为我们后续的分析提供一个重要的筛选维度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图表显示岗位样本偏向 Engineering 和 Data Science，因此后续分析需要注意类别结构差异。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本页强调薪资的样本边界，并用职级箱线图说明不同职级存在差异但仍有重叠。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本页说明技能标签既包含技术词，也包含职能和角色词；描述更长通常质量更高，但长度不等于质量。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日期图是本次 API 时间窗口快照；质量等级约一半为 High，仍有大量岗位处于 Medium。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本页是评分模型演示页，逐项展示 100 分由哪些信息维度构成，并强调业务边界。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本页用真实测试集指标表和模型对比图，突出 XGBoost 的 F1=0.9140、ROC-AUC=0.9662。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本页把混淆矩阵、ROC 和特征重要性放在同一页，解释模型高分的含义与局限。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最后，对本次数据处理工作进行总结并展望下一步。我们已经成功完成了12,000条岗位数据的采集、清洗和特征工程，并构建了岗位信息质量评分体系。下一步，我们计划基于这个高质量的数据集，开展更深入的工作，包括人工标注、模型优化、技能词表检查和岗位聚类分析，并最终探索RAG和Agent等更前沿的应用方向。</a:t>
            </a: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pt_week1_fin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01219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0998200" y="177800"/>
            <a:ext cx="7286625" cy="9925050"/>
          </a:xfrm>
          <a:custGeom>
            <a:avLst/>
            <a:gdLst/>
            <a:ahLst/>
            <a:cxnLst/>
            <a:rect l="l" t="t" r="r" b="b"/>
            <a:pathLst>
              <a:path w="7286625" h="9925050">
                <a:moveTo>
                  <a:pt x="238125" y="0"/>
                </a:moveTo>
                <a:lnTo>
                  <a:pt x="7286625" y="0"/>
                </a:lnTo>
                <a:lnTo>
                  <a:pt x="7286625" y="9925050"/>
                </a:lnTo>
                <a:lnTo>
                  <a:pt x="3095625" y="9925050"/>
                </a:lnTo>
                <a:cubicBezTo>
                  <a:pt x="3000375" y="7639050"/>
                  <a:pt x="2428875" y="5734050"/>
                  <a:pt x="1190625" y="4114800"/>
                </a:cubicBezTo>
                <a:cubicBezTo>
                  <a:pt x="571500" y="3305175"/>
                  <a:pt x="0" y="2114550"/>
                  <a:pt x="238125" y="0"/>
                </a:cubicBezTo>
                <a:close/>
              </a:path>
            </a:pathLst>
          </a:custGeom>
          <a:solidFill>
            <a:srgbClr val="0D5B86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3906500" y="177800"/>
            <a:ext cx="4381500" cy="9925050"/>
          </a:xfrm>
          <a:custGeom>
            <a:avLst/>
            <a:gdLst/>
            <a:ahLst/>
            <a:cxnLst/>
            <a:rect l="l" t="t" r="r" b="b"/>
            <a:pathLst>
              <a:path w="4381500" h="9925050">
                <a:moveTo>
                  <a:pt x="714375" y="0"/>
                </a:moveTo>
                <a:lnTo>
                  <a:pt x="4381500" y="0"/>
                </a:lnTo>
                <a:lnTo>
                  <a:pt x="4381500" y="9925050"/>
                </a:lnTo>
                <a:lnTo>
                  <a:pt x="2286000" y="9925050"/>
                </a:lnTo>
                <a:cubicBezTo>
                  <a:pt x="2238375" y="7543800"/>
                  <a:pt x="1762125" y="5638800"/>
                  <a:pt x="809625" y="4210050"/>
                </a:cubicBezTo>
                <a:cubicBezTo>
                  <a:pt x="333375" y="3495675"/>
                  <a:pt x="0" y="1924050"/>
                  <a:pt x="714375" y="0"/>
                </a:cubicBezTo>
                <a:close/>
              </a:path>
            </a:pathLst>
          </a:custGeom>
          <a:solidFill>
            <a:srgbClr val="0A4A7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31900" y="1930400"/>
            <a:ext cx="3175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9CE3DE"/>
                </a:solidFill>
                <a:latin typeface="黑体"/>
                <a:ea typeface="黑体"/>
                <a:cs typeface="黑体"/>
                <a:sym typeface="黑体"/>
              </a:rPr>
              <a:t>行业大数据分析实践课程项目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9200" y="2692400"/>
            <a:ext cx="8890000" cy="825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基于全球远程招聘岗位大数据的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19200" y="3276600"/>
            <a:ext cx="9525000" cy="1054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岗位质量评分与人岗匹配研究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57300" y="4406900"/>
            <a:ext cx="381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BDECE8"/>
                </a:solidFill>
                <a:latin typeface="黑体"/>
                <a:ea typeface="黑体"/>
                <a:cs typeface="黑体"/>
                <a:sym typeface="黑体"/>
              </a:rPr>
              <a:t>数据处理阶段汇报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1244600" y="5219700"/>
            <a:ext cx="6667500" cy="0"/>
          </a:xfrm>
          <a:custGeom>
            <a:avLst/>
            <a:gdLst/>
            <a:ahLst/>
            <a:cxnLst/>
            <a:rect l="l" t="t" r="r" b="b"/>
            <a:pathLst>
              <a:path w="6667500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38100" cap="flat" cmpd="sng">
            <a:solidFill>
              <a:srgbClr val="4DBBB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31900" y="5816600"/>
            <a:ext cx="2540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700" b="0" i="0" u="none" strike="noStrike">
                <a:solidFill>
                  <a:srgbClr val="D8EAF4"/>
                </a:solidFill>
                <a:latin typeface="黑体"/>
                <a:ea typeface="黑体"/>
                <a:cs typeface="黑体"/>
                <a:sym typeface="黑体"/>
              </a:rPr>
              <a:t>姓名：胡</a:t>
            </a:r>
            <a:r>
              <a:rPr lang="zh-CN" altLang="en-US" sz="1700" b="0" i="0" u="none" strike="noStrike">
                <a:solidFill>
                  <a:srgbClr val="D8EAF4"/>
                </a:solidFill>
                <a:latin typeface="黑体"/>
                <a:ea typeface="黑体"/>
                <a:cs typeface="黑体"/>
                <a:sym typeface="黑体"/>
              </a:rPr>
              <a:t>善</a:t>
            </a:r>
            <a:r>
              <a:rPr lang="en-US" sz="1700" b="0" i="0" u="none" strike="noStrike">
                <a:solidFill>
                  <a:srgbClr val="D8EAF4"/>
                </a:solidFill>
                <a:latin typeface="黑体"/>
                <a:ea typeface="黑体"/>
                <a:cs typeface="黑体"/>
                <a:sym typeface="黑体"/>
              </a:rPr>
              <a:t>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31900" y="6248400"/>
            <a:ext cx="2540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700" b="0" i="0" u="none" strike="noStrike">
                <a:solidFill>
                  <a:srgbClr val="D8EAF4"/>
                </a:solidFill>
                <a:latin typeface="黑体"/>
                <a:ea typeface="黑体"/>
                <a:cs typeface="黑体"/>
                <a:sym typeface="黑体"/>
              </a:rPr>
              <a:t>班级：23大数据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31900" y="6680200"/>
            <a:ext cx="2540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700" b="0" i="0" u="none" strike="noStrike">
                <a:solidFill>
                  <a:srgbClr val="D8EAF4"/>
                </a:solidFill>
                <a:latin typeface="黑体"/>
                <a:ea typeface="黑体"/>
                <a:cs typeface="黑体"/>
                <a:sym typeface="黑体"/>
              </a:rPr>
              <a:t>指导教师：钟瑛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31900" y="7112000"/>
            <a:ext cx="2794000" cy="317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700" b="0" i="0" u="none" strike="noStrike">
                <a:solidFill>
                  <a:srgbClr val="D8EAF4"/>
                </a:solidFill>
                <a:latin typeface="黑体"/>
                <a:ea typeface="黑体"/>
                <a:cs typeface="黑体"/>
                <a:sym typeface="黑体"/>
              </a:rPr>
              <a:t>日期：2026年9月11日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44600" y="8382000"/>
            <a:ext cx="2476500" cy="495300"/>
          </a:xfrm>
          <a:prstGeom prst="roundRect">
            <a:avLst>
              <a:gd name="adj" fmla="val 23076"/>
            </a:avLst>
          </a:prstGeom>
          <a:solidFill>
            <a:srgbClr val="0B4E75">
              <a:alpha val="100000"/>
            </a:srgbClr>
          </a:solidFill>
          <a:ln w="12700" cap="flat" cmpd="sng">
            <a:solidFill>
              <a:srgbClr val="5CD4C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333500" y="8559800"/>
            <a:ext cx="2286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数据清洗 · 转换 · 建模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38481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27813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项目启动 · 全球远程招聘数据洞察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25700"/>
            <a:ext cx="34163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两大核心研究方向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187700"/>
            <a:ext cx="6858000" cy="1435100"/>
          </a:xfrm>
          <a:prstGeom prst="roundRect">
            <a:avLst>
              <a:gd name="adj" fmla="val 7964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06500" y="4978400"/>
            <a:ext cx="6858000" cy="1435100"/>
          </a:xfrm>
          <a:prstGeom prst="roundRect">
            <a:avLst>
              <a:gd name="adj" fmla="val 7964"/>
            </a:avLst>
          </a:prstGeom>
          <a:solidFill>
            <a:srgbClr val="E9FB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574800" y="3403600"/>
            <a:ext cx="3683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73300" y="3390900"/>
            <a:ext cx="34163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岗位质量评分模型构建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273300" y="3898900"/>
            <a:ext cx="4826000" cy="558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构建多维度量化模型，评估招聘信息的透明度、完整性与吸引力，建立标准化的岗位信息质量评估体系。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74800" y="5181600"/>
            <a:ext cx="3683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73300" y="5168900"/>
            <a:ext cx="42672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人岗智能匹配算法开发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73300" y="5676900"/>
            <a:ext cx="4826000" cy="558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基于技能图谱与岗位需求特征，开发精准匹配算法，实现求职者能力与岗位要求的智能匹配，提升求职匹配效率。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50400" y="2425700"/>
            <a:ext cx="190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数据概况与来源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50400" y="3098800"/>
            <a:ext cx="3810000" cy="368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数据源：Himalayas公开Jobs API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50400" y="3657600"/>
            <a:ext cx="3810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数据快照：2026年9月8日全球数据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50400" y="4216400"/>
            <a:ext cx="3810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数据规模：12,000 条独立岗位记录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50400" y="4762500"/>
            <a:ext cx="3810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研究对象：全球纯远程岗位 (Remote)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9563100" y="5473700"/>
            <a:ext cx="7439025" cy="0"/>
          </a:xfrm>
          <a:custGeom>
            <a:avLst/>
            <a:gdLst/>
            <a:ahLst/>
            <a:cxnLst/>
            <a:rect l="l" t="t" r="r" b="b"/>
            <a:pathLst>
              <a:path w="7439025">
                <a:moveTo>
                  <a:pt x="0" y="0"/>
                </a:moveTo>
                <a:lnTo>
                  <a:pt x="7439025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50400" y="5842000"/>
            <a:ext cx="1016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数据价值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50400" y="6134100"/>
            <a:ext cx="635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真实数据支撑研究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50400" y="6781800"/>
            <a:ext cx="6985000" cy="558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覆盖全球多个行业的远程招聘真实信息，数据维度丰富、时效性强，为岗位质量评分模型构建与人岗匹配算法开发提供坚实的数据基础。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800100" y="9664700"/>
            <a:ext cx="16687800" cy="0"/>
          </a:xfrm>
          <a:custGeom>
            <a:avLst/>
            <a:gdLst/>
            <a:ahLst/>
            <a:cxnLst/>
            <a:rect l="l" t="t" r="r" b="b"/>
            <a:pathLst>
              <a:path w="16687800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00100" y="9842500"/>
            <a:ext cx="508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数据说明：数据来源于公开API，仅用于学术研究与分析，不涉及商业机密。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7322800" y="9842500"/>
            <a:ext cx="1778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762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数据处理目标与核心原则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635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数据清洗与预处理阶段规范与准则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903700" y="863600"/>
            <a:ext cx="5842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7F2"/>
                </a:solidFill>
                <a:latin typeface="黑体"/>
                <a:ea typeface="黑体"/>
                <a:cs typeface="黑体"/>
                <a:sym typeface="黑体"/>
              </a:rPr>
              <a:t>03 / 15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2438400"/>
            <a:ext cx="698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五大数据处理目标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3187700"/>
            <a:ext cx="6667500" cy="762000"/>
          </a:xfrm>
          <a:prstGeom prst="roundRect">
            <a:avLst>
              <a:gd name="adj" fmla="val 15000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460500" y="3314700"/>
            <a:ext cx="6223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17324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数据质量是分析与建模的基石，需从五个维度构建高标准的数据基础，确保分析结果的真实可靠。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06500" y="4127500"/>
            <a:ext cx="3238500" cy="825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数据完整性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确保所有关键业务字段被完整保留，无遗漏解析，保障数据全量可用。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2000" y="4127500"/>
            <a:ext cx="3238500" cy="825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数据一致性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对薪资、经验年限等异构字段进行标准化处理，消除格式差异。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206500" y="5016500"/>
            <a:ext cx="3238500" cy="825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数据准确性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识别并标记异常值与错误数据，保留原始信息，确保数据真实有效。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72000" y="5016500"/>
            <a:ext cx="3238500" cy="825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Noto Sans SC"/>
                <a:ea typeface="Noto Sans SC"/>
                <a:cs typeface="Noto Sans SC"/>
                <a:sym typeface="Noto Sans SC"/>
              </a:rPr>
              <a:t>04 全程可追溯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保留来源URL、采集时间等元数据，实现数据来源可核验、可回溯。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206500" y="5969000"/>
            <a:ext cx="6604000" cy="825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Noto Sans SC"/>
                <a:ea typeface="Noto Sans SC"/>
                <a:cs typeface="Noto Sans SC"/>
                <a:sym typeface="Noto Sans SC"/>
              </a:rPr>
              <a:t>05 智能特征工程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基于业务逻辑与建模需求，构造岗位热度、技能匹配度等衍生特征，提升模型与分析的深度和精度。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067800" y="2095500"/>
            <a:ext cx="8420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461500" y="2438400"/>
            <a:ext cx="698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三大核心处理原则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61500" y="3111500"/>
            <a:ext cx="7620000" cy="1143000"/>
          </a:xfrm>
          <a:prstGeom prst="roundRect">
            <a:avLst>
              <a:gd name="adj" fmla="val 10000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652000" y="3213100"/>
            <a:ext cx="7239000" cy="952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01 原始数据保护原则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严禁对原始数据文件进行任何形式的修改、覆盖或删除操作。所有清洗、转换操作均在数据副本上进行，确保源头数据的纯净性与不可篡改性，为后续审计提供可靠依据。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461500" y="4318000"/>
            <a:ext cx="7620000" cy="1143000"/>
          </a:xfrm>
          <a:prstGeom prst="roundRect">
            <a:avLst>
              <a:gd name="adj" fmla="val 10000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652000" y="4419600"/>
            <a:ext cx="7239000" cy="952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02 全链路可追溯原则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每条记录必须保留source_url（来源链接）、crawl_time（采集时间）等关键元数据。确保数据来源可精准定位，问题可快速回溯，满足数据审计与合规性要求。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461500" y="5524500"/>
            <a:ext cx="7620000" cy="1143000"/>
          </a:xfrm>
          <a:prstGeom prst="roundRect">
            <a:avLst>
              <a:gd name="adj" fmla="val 10000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652000" y="5626100"/>
            <a:ext cx="7239000" cy="952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03 拒绝伪造业务值原则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对于缺失的数值型字段（如薪资、经验），严格保留空值状态，严禁使用0、均值或其他默认值进行填充。杜绝引入虚假业务信息，确保分析结果真实反映客观业务现状。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800100" y="9664700"/>
            <a:ext cx="16687800" cy="0"/>
          </a:xfrm>
          <a:custGeom>
            <a:avLst/>
            <a:gdLst/>
            <a:ahLst/>
            <a:cxnLst/>
            <a:rect l="l" t="t" r="r" b="b"/>
            <a:pathLst>
              <a:path w="16687800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00100" y="9842500"/>
            <a:ext cx="1016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执行依据：《数据清洗规范手册》V2.0 | 数据来源：业务爬虫原始日志与结构化数据库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7322800" y="9842500"/>
            <a:ext cx="508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1016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数据处理总体流程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762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严谨可复现的全链路数据清洗与加工流程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903700" y="863600"/>
            <a:ext cx="5842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7F2"/>
                </a:solidFill>
                <a:latin typeface="黑体"/>
                <a:ea typeface="黑体"/>
                <a:cs typeface="黑体"/>
                <a:sym typeface="黑体"/>
              </a:rPr>
              <a:t>04 / 13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16687800" cy="6096000"/>
          </a:xfrm>
          <a:prstGeom prst="roundRect">
            <a:avLst>
              <a:gd name="adj" fmla="val 18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2438400"/>
            <a:ext cx="508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全链路数据处理标准化流程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93800" y="2870200"/>
            <a:ext cx="15240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设计严谨的处理步骤，确保数据从采集到分析的准确性与可追溯性，覆盖从原始数据清洗、特征提取到工程化构造的全环节。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6703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F2F8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422400" y="39497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 原始数据采集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22400" y="43434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获取分页JSONL原始数据，保留源数据完整性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4445000" y="425450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5400" cap="flat" cmpd="sng">
            <a:solidFill>
              <a:srgbClr val="A2BD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105400" y="36703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EFFA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321300" y="39497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02 合并与去重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334000" y="43434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多源数据合并，基于唯一标识清洗重复记录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8343900" y="425450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5400" cap="flat" cmpd="sng">
            <a:solidFill>
              <a:srgbClr val="A2BD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17000" y="36703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F2F8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232900" y="39497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03 缺失值审计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32900" y="43434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校验核心字段完整性，标记缺失状态与原因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12255500" y="425450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5400" cap="flat" cmpd="sng">
            <a:solidFill>
              <a:srgbClr val="A2BD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2915900" y="36703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EFFA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3131800" y="39497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04 字段标准化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3144500" y="43434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统一字段数据类型，规范日期、状态等格式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206500" y="56261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F2F8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422400" y="59055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05 薪资经验解析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422400" y="62865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结构化提取薪资范围、币种及工作经验要求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4445000" y="619760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5400" cap="flat" cmpd="sng">
            <a:solidFill>
              <a:srgbClr val="A2BD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5105400" y="56261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EFFA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5321300" y="59055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06 文本清洗与分词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334000" y="62865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去除噪声字符，使用jieba进行中英文混合分词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8343900" y="619760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5400" cap="flat" cmpd="sng">
            <a:solidFill>
              <a:srgbClr val="A2BD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017000" y="56261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F2F8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232900" y="59055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07 技能归一化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232900" y="62865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统一同义词与别称，建立标准化技能词库映射</a:t>
            </a:r>
            <a:endParaRPr lang="en-US" sz="1100"/>
          </a:p>
        </p:txBody>
      </p:sp>
      <p:sp>
        <p:nvSpPr>
          <p:cNvPr id="37" name="Freeform 37"/>
          <p:cNvSpPr/>
          <p:nvPr/>
        </p:nvSpPr>
        <p:spPr>
          <a:xfrm>
            <a:off x="12255500" y="6197600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5400" cap="flat" cmpd="sng">
            <a:solidFill>
              <a:srgbClr val="A2BD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12915900" y="5626100"/>
            <a:ext cx="3238500" cy="1168400"/>
          </a:xfrm>
          <a:prstGeom prst="roundRect">
            <a:avLst>
              <a:gd name="adj" fmla="val 8695"/>
            </a:avLst>
          </a:prstGeom>
          <a:solidFill>
            <a:srgbClr val="EFFA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13131800" y="5905500"/>
            <a:ext cx="27940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08 特征工程与输出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3144500" y="6286500"/>
            <a:ext cx="2794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构造衍生特征，输出CSV/JSON等多格式数据集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206500" y="7670800"/>
            <a:ext cx="15532100" cy="444500"/>
          </a:xfrm>
          <a:prstGeom prst="roundRect">
            <a:avLst>
              <a:gd name="adj" fmla="val 17142"/>
            </a:avLst>
          </a:prstGeom>
          <a:solidFill>
            <a:srgbClr val="FFF4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1371600" y="7823200"/>
            <a:ext cx="14986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965A1B"/>
                </a:solidFill>
                <a:latin typeface="黑体"/>
                <a:ea typeface="黑体"/>
                <a:cs typeface="黑体"/>
                <a:sym typeface="黑体"/>
              </a:rPr>
              <a:t>核心原则：全程保留原始数据痕迹，异常值单独标记不直接删除，确保数据处理过程可追溯、可复现，为后续分析提供可靠基础。</a:t>
            </a:r>
            <a:endParaRPr lang="en-US" sz="1100"/>
          </a:p>
        </p:txBody>
      </p:sp>
      <p:sp>
        <p:nvSpPr>
          <p:cNvPr id="43" name="Freeform 43"/>
          <p:cNvSpPr/>
          <p:nvPr/>
        </p:nvSpPr>
        <p:spPr>
          <a:xfrm>
            <a:off x="800100" y="9664700"/>
            <a:ext cx="16687800" cy="0"/>
          </a:xfrm>
          <a:custGeom>
            <a:avLst/>
            <a:gdLst/>
            <a:ahLst/>
            <a:cxnLst/>
            <a:rect l="l" t="t" r="r" b="b"/>
            <a:pathLst>
              <a:path w="16687800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00100" y="9842500"/>
            <a:ext cx="1016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数据来源：招聘平台公开岗位信息原始抓取数据，经标准化清洗、特征提取与工程化处理生成分析数据集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7322800" y="9842500"/>
            <a:ext cx="1778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508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数据规模与可追溯性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508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全球远程岗位数据采集与治理概览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903700" y="863600"/>
            <a:ext cx="5842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7F2"/>
                </a:solidFill>
                <a:latin typeface="黑体"/>
                <a:ea typeface="黑体"/>
                <a:cs typeface="黑体"/>
                <a:sym typeface="黑体"/>
              </a:rPr>
              <a:t>03 / 13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01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1769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176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岗位数据总量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049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12,000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覆盖全球主流远程招聘平台岗位信息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149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9149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324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原始分页文件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197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600+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324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API响应分页存储，完整保留原始载荷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297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297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F29D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3472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重复记录数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345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0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472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基于URL与岗位ID双重去重，数据纯净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31445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31445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1769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34620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薪资可解析数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4493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5,185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34620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结构化提取薪资区间与币种信息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0100" y="3911600"/>
            <a:ext cx="7810500" cy="4330700"/>
          </a:xfrm>
          <a:prstGeom prst="roundRect">
            <a:avLst>
              <a:gd name="adj" fmla="val 26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130300" y="4152900"/>
            <a:ext cx="6350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全链路数据追溯体系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30300" y="4635500"/>
            <a:ext cx="7112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建立从数据源到清洗结果的完整审计路径，原始数据不可覆盖，确保分析结果可回溯、可核验。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244600" y="5524500"/>
            <a:ext cx="1714500" cy="1143000"/>
          </a:xfrm>
          <a:prstGeom prst="roundRect">
            <a:avLst>
              <a:gd name="adj" fmla="val 10000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244600" y="5740400"/>
            <a:ext cx="17145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数据源采集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244600" y="6159500"/>
            <a:ext cx="17145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Jobs API 公开接口</a:t>
            </a:r>
            <a:b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</a:b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实时抓取原始数据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971800" y="6096000"/>
            <a:ext cx="558800" cy="25400"/>
          </a:xfrm>
          <a:prstGeom prst="roundRect">
            <a:avLst>
              <a:gd name="adj" fmla="val 0"/>
            </a:avLst>
          </a:prstGeom>
          <a:solidFill>
            <a:srgbClr val="8BAE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619500" y="5524500"/>
            <a:ext cx="1714500" cy="1143000"/>
          </a:xfrm>
          <a:prstGeom prst="roundRect">
            <a:avLst>
              <a:gd name="adj" fmla="val 10000"/>
            </a:avLst>
          </a:prstGeom>
          <a:solidFill>
            <a:srgbClr val="E9FB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3619500" y="5740400"/>
            <a:ext cx="17145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原始数据归档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619500" y="6159500"/>
            <a:ext cx="17145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JSONL 格式存储</a:t>
            </a:r>
            <a:b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</a:b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600+ 分页文件留存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359400" y="6096000"/>
            <a:ext cx="558800" cy="25400"/>
          </a:xfrm>
          <a:prstGeom prst="roundRect">
            <a:avLst>
              <a:gd name="adj" fmla="val 0"/>
            </a:avLst>
          </a:prstGeom>
          <a:solidFill>
            <a:srgbClr val="8BAE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007100" y="5524500"/>
            <a:ext cx="1714500" cy="1143000"/>
          </a:xfrm>
          <a:prstGeom prst="roundRect">
            <a:avLst>
              <a:gd name="adj" fmla="val 10000"/>
            </a:avLst>
          </a:prstGeom>
          <a:solidFill>
            <a:srgbClr val="FFF4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6007100" y="5740400"/>
            <a:ext cx="17145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清洗与结构化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007100" y="6159500"/>
            <a:ext cx="17145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清洗后数据入库</a:t>
            </a:r>
            <a:b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</a:b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保留 Source URL 溯源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029700" y="3911600"/>
            <a:ext cx="8458200" cy="4330700"/>
          </a:xfrm>
          <a:prstGeom prst="roundRect">
            <a:avLst>
              <a:gd name="adj" fmla="val 26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9474200" y="4152900"/>
            <a:ext cx="6350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数据留存与管理规范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474200" y="4762500"/>
            <a:ext cx="7620000" cy="698500"/>
          </a:xfrm>
          <a:prstGeom prst="roundRect">
            <a:avLst>
              <a:gd name="adj" fmla="val 0"/>
            </a:avLst>
          </a:prstGeom>
          <a:solidFill>
            <a:srgbClr val="F5F9F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9601200" y="4826000"/>
            <a:ext cx="73660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01. 原始数据不可变：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C4655"/>
                </a:solidFill>
                <a:latin typeface="黑体"/>
                <a:ea typeface="黑体"/>
                <a:cs typeface="黑体"/>
                <a:sym typeface="黑体"/>
              </a:rPr>
              <a:t>Raw JSONL 与 API 原始响应保持原样存储，严禁覆盖或修改，确保数据源头可追溯。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474200" y="5524500"/>
            <a:ext cx="7620000" cy="698500"/>
          </a:xfrm>
          <a:prstGeom prst="roundRect">
            <a:avLst>
              <a:gd name="adj" fmla="val 0"/>
            </a:avLst>
          </a:prstGeom>
          <a:solidFill>
            <a:srgbClr val="F5F9F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9601200" y="5588000"/>
            <a:ext cx="73660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02. 结果分离存储：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C4655"/>
                </a:solidFill>
                <a:latin typeface="黑体"/>
                <a:ea typeface="黑体"/>
                <a:cs typeface="黑体"/>
                <a:sym typeface="黑体"/>
              </a:rPr>
              <a:t>清洗后结构化数据独立写入 `dataprocessed/` 目录，与原始数据物理隔离，便于管理与审计。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9474200" y="6286500"/>
            <a:ext cx="7620000" cy="698500"/>
          </a:xfrm>
          <a:prstGeom prst="roundRect">
            <a:avLst>
              <a:gd name="adj" fmla="val 0"/>
            </a:avLst>
          </a:prstGeom>
          <a:solidFill>
            <a:srgbClr val="F5F9F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9601200" y="6350000"/>
            <a:ext cx="73660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03. 全要素溯源：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C4655"/>
                </a:solidFill>
                <a:latin typeface="黑体"/>
                <a:ea typeface="黑体"/>
                <a:cs typeface="黑体"/>
                <a:sym typeface="黑体"/>
              </a:rPr>
              <a:t>每条记录保留 `crawl_time`（采集时间）与 `data_origin`（来源标识），支持通过 `source_url` 直接回源核验。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00100" y="9664700"/>
            <a:ext cx="166878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/>
          <p:nvPr/>
        </p:nvSpPr>
        <p:spPr>
          <a:xfrm>
            <a:off x="800100" y="9842500"/>
            <a:ext cx="1016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数据说明：统计范围为全球公开远程岗位，数据采集周期为2026年9月，薪资可解析指包含明确薪酬区间或数值的岗位。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17322800" y="9842500"/>
            <a:ext cx="508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762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核心处理步骤：合并与去重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508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数据清洗与质量校验阶段 · 保障数据唯一性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903700" y="863600"/>
            <a:ext cx="762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7F2"/>
                </a:solidFill>
                <a:latin typeface="黑体"/>
                <a:ea typeface="黑体"/>
                <a:cs typeface="黑体"/>
                <a:sym typeface="黑体"/>
              </a:rPr>
              <a:t>03 / 15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25700"/>
            <a:ext cx="698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分层级去重策略体系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111500"/>
            <a:ext cx="6858000" cy="1714500"/>
          </a:xfrm>
          <a:prstGeom prst="roundRect">
            <a:avLst>
              <a:gd name="adj" fmla="val 6666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574800" y="3302000"/>
            <a:ext cx="508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73300" y="3302000"/>
            <a:ext cx="571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首选键：唯一标识符 (Source + Job_ID)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73300" y="3873500"/>
            <a:ext cx="5588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利用数据源提供的原生唯一ID进行匹配，具有最高的稳定性和准确性，是去重的核心依据，确保数据源头的唯一性。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5143500"/>
            <a:ext cx="6858000" cy="1714500"/>
          </a:xfrm>
          <a:prstGeom prst="roundRect">
            <a:avLst>
              <a:gd name="adj" fmla="val 6666"/>
            </a:avLst>
          </a:prstGeom>
          <a:solidFill>
            <a:srgbClr val="E9FB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574800" y="5334000"/>
            <a:ext cx="508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73300" y="5334000"/>
            <a:ext cx="571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兜底键：URL验证 + 业务组合键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73300" y="5905500"/>
            <a:ext cx="5588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次选岗位原始URL进行直接访问验证；若ID与URL缺失，则启用“岗位名+公司+城市+薪资+发布日期”的组合键，构建多层防护网。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50400" y="2425700"/>
            <a:ext cx="254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清洗结果与质量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50400" y="3098800"/>
            <a:ext cx="3556000" cy="368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输入记录总量：12,000 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50400" y="3746500"/>
            <a:ext cx="3556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去重后留存：12,000 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50400" y="4381500"/>
            <a:ext cx="3556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重复记录占比：0.00% (零重复)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63100" y="5143500"/>
            <a:ext cx="7442200" cy="12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8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50400" y="5397500"/>
            <a:ext cx="7442200" cy="304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数据质量评估结论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50400" y="5842000"/>
            <a:ext cx="7442200" cy="1079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本次采集覆盖600个分页文件，经三层去重策略校验，未发现任何重复岗位数据。数据纯净度极高，为后续的岗位分析、薪资洞察及模型训练提供了坚实可靠的数据基础。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" y="9664700"/>
            <a:ext cx="16687800" cy="12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8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" y="9842500"/>
            <a:ext cx="762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数据来源：全球远程岗位公开API采集库 | 统计截止日期：2024年Q3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322800" y="9842500"/>
            <a:ext cx="508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1016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缺失值审计与处理策略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762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数据清洗阶段的关键质量评估与业务洞察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0" y="863600"/>
            <a:ext cx="1016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7F2"/>
                </a:solidFill>
                <a:latin typeface="黑体"/>
                <a:ea typeface="黑体"/>
                <a:cs typeface="黑体"/>
                <a:sym typeface="黑体"/>
              </a:rPr>
              <a:t>03 / 15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2438400"/>
            <a:ext cx="381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核心字段缺失统计概览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3187700"/>
            <a:ext cx="3619500" cy="1206500"/>
          </a:xfrm>
          <a:prstGeom prst="roundRect">
            <a:avLst>
              <a:gd name="adj" fmla="val 9473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333500" y="3302000"/>
            <a:ext cx="33655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地区限制 (district)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缺失数: 226 (占比 1.9%)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0A9A1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策略：保留空值，不影响核心分析</a:t>
            </a:r>
            <a:endParaRPr lang="en-US" sz="1300" b="1" i="0" u="none" strike="noStrike">
              <a:solidFill>
                <a:srgbClr val="10A9A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889500" y="3187700"/>
            <a:ext cx="3619500" cy="1206500"/>
          </a:xfrm>
          <a:prstGeom prst="roundRect">
            <a:avLst>
              <a:gd name="adj" fmla="val 9473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016500" y="3302000"/>
            <a:ext cx="33655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原始薪资 (salary_raw)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缺失数: 6,815 (占比 56.8%)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29D38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策略：保留缺失，避免统计偏差</a:t>
            </a:r>
            <a:endParaRPr lang="en-US" sz="1300" b="1" i="0" u="none" strike="noStrike">
              <a:solidFill>
                <a:srgbClr val="F29D3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206500" y="4635500"/>
            <a:ext cx="3619500" cy="1206500"/>
          </a:xfrm>
          <a:prstGeom prst="roundRect">
            <a:avLst>
              <a:gd name="adj" fmla="val 947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333500" y="4762500"/>
            <a:ext cx="33655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岗位标识 (ID/Title)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缺失数: 0 (占比 0.0%)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状态：核心主键，数据完整无缺失</a:t>
            </a:r>
            <a:endParaRPr lang="en-US" sz="1300" b="1" i="0" u="none" strike="noStrike">
              <a:solidFill>
                <a:srgbClr val="16A34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889500" y="4635500"/>
            <a:ext cx="3619500" cy="1206500"/>
          </a:xfrm>
          <a:prstGeom prst="roundRect">
            <a:avLst>
              <a:gd name="adj" fmla="val 947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16500" y="4762500"/>
            <a:ext cx="33655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职位描述 (Description)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缺失数: 0 (占比 0.0%)</a:t>
            </a:r>
            <a:endParaRPr lang="en-US" sz="13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状态：文本分析基础，数据完整</a:t>
            </a:r>
            <a:endParaRPr lang="en-US" sz="1300" b="1" i="0" u="none" strike="noStrike">
              <a:solidFill>
                <a:srgbClr val="16A34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06500" y="6096000"/>
            <a:ext cx="73025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083B6F"/>
                </a:solidFill>
                <a:latin typeface="Noto Sans SC"/>
                <a:ea typeface="Noto Sans SC"/>
                <a:cs typeface="Noto Sans SC"/>
                <a:sym typeface="Noto Sans SC"/>
              </a:rPr>
              <a:t>审计结论：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业务核心字段（岗位、描述）完整性极佳，为后续分析提供了坚实基础；薪资字段的高缺失率是远程招聘市场的典型特征。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2095500"/>
            <a:ext cx="8420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461500" y="2438400"/>
            <a:ext cx="381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处理策略与业务洞察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461500" y="3187700"/>
            <a:ext cx="7620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为何选择保留缺失而非填充？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薪资数据的缺失并非随机错误，而是反映了招聘方有意不披露的行为。若强行填充0值或均值，会人为制造虚假数据，导致模型对薪资水平产生误判，破坏数据的真实性。</a:t>
            </a:r>
            <a:endParaRPr lang="en-US" sz="14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461500" y="4381500"/>
            <a:ext cx="76200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461500" y="4572000"/>
            <a:ext cx="7620000" cy="1143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29D38"/>
                </a:solidFill>
                <a:latin typeface="Noto Sans SC"/>
                <a:ea typeface="Noto Sans SC"/>
                <a:cs typeface="Noto Sans SC"/>
                <a:sym typeface="Noto Sans SC"/>
              </a:rPr>
              <a:t>高缺失率的业务解读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56.8%的薪资缺失率揭示了远程招聘市场的普遍现状：企业倾向于在初步沟通阶段不公开具体薪资范围，这既保护了薪资策略的灵活性，也反映了市场定价的模糊性。这一特征本身就是数据分析的重要维度。</a:t>
            </a:r>
            <a:endParaRPr lang="en-US" sz="1400" b="0" i="0" u="none" strike="noStrike">
              <a:solidFill>
                <a:srgbClr val="6277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461500" y="5905500"/>
            <a:ext cx="7620000" cy="889000"/>
          </a:xfrm>
          <a:prstGeom prst="roundRect">
            <a:avLst>
              <a:gd name="adj" fmla="val 12857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88500" y="6032500"/>
            <a:ext cx="7366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83B6F"/>
                </a:solidFill>
                <a:latin typeface="Noto Sans SC"/>
                <a:ea typeface="Noto Sans SC"/>
                <a:cs typeface="Noto Sans SC"/>
                <a:sym typeface="Noto Sans SC"/>
              </a:rPr>
              <a:t>后续行动建议：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在建模时将“薪资是否缺失”作为独立特征纳入模型，或针对有薪资数据的子集进行专项分析，以充分挖掘数据价值。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" y="9664700"/>
            <a:ext cx="166878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" y="9842500"/>
            <a:ext cx="12700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数据来源：2024年Q1全球远程招聘岗位数据库审计结果，样本量N=12,000+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256000" y="9842500"/>
            <a:ext cx="1270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2778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635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核心处理步骤：字段类型标准化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508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数据预处理阶段 · 结构化与量化转换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38400"/>
            <a:ext cx="317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标准化核心逻辑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187700"/>
            <a:ext cx="6667500" cy="1282700"/>
          </a:xfrm>
          <a:prstGeom prst="roundRect">
            <a:avLst>
              <a:gd name="adj" fmla="val 8910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574800" y="3390900"/>
            <a:ext cx="60960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从“字符串”到“结构化数据”的跨越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74800" y="3924300"/>
            <a:ext cx="5969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将原始非结构化的文本信息（如薪资描述、经验要求）转化为机器可理解、可计算的数值与分类特征，消除数据歧义，提升分析维度的丰富度。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93800" y="4737100"/>
            <a:ext cx="6667500" cy="304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构建统一数据标准，为智能分析扫清障碍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93800" y="5283200"/>
            <a:ext cx="66675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通过对关键业务字段的标准化拆解，不仅提升了数据的可用性，更让原本无法量化的定性指标转化为可参与模型计算的定量特征，为后续的岗位质量评分模型提供坚实的数据支撑，确保分析结果的准确性与可靠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461500" y="2438400"/>
            <a:ext cx="317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关键字段映射示例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3200400"/>
            <a:ext cx="1778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薪资字段解析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798300" y="3073400"/>
            <a:ext cx="2540000" cy="584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币种/周期/区间值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61500" y="4038600"/>
            <a:ext cx="1778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经验要求转化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798300" y="3962400"/>
            <a:ext cx="2540000" cy="495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等级/年限范围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461500" y="4876800"/>
            <a:ext cx="1778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发布时效量化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798300" y="4800600"/>
            <a:ext cx="2540000" cy="495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发布距今天数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461500" y="5715000"/>
            <a:ext cx="1778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技能标签归一化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798300" y="5626100"/>
            <a:ext cx="2540000" cy="495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标准词袋/计数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9474200" y="6388100"/>
            <a:ext cx="7534275" cy="0"/>
          </a:xfrm>
          <a:custGeom>
            <a:avLst/>
            <a:gdLst/>
            <a:ahLst/>
            <a:cxnLst/>
            <a:rect l="l" t="t" r="r" b="b"/>
            <a:pathLst>
              <a:path w="7534275">
                <a:moveTo>
                  <a:pt x="0" y="0"/>
                </a:moveTo>
                <a:lnTo>
                  <a:pt x="7534275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461500" y="6794500"/>
            <a:ext cx="7493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价值总结：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标准化不仅是格式的统一，更是挖掘数据深层价值的前提。通过将非结构化信息转化为可计算的特征，为后续的算法模型训练、岗位质量评分及多维数据分析奠定坚实的基础。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800100" y="9664700"/>
            <a:ext cx="16687800" cy="0"/>
          </a:xfrm>
          <a:custGeom>
            <a:avLst/>
            <a:gdLst/>
            <a:ahLst/>
            <a:cxnLst/>
            <a:rect l="l" t="t" r="r" b="b"/>
            <a:pathLst>
              <a:path w="16687800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00100" y="9842500"/>
            <a:ext cx="762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数据来源：全球远程岗位原始爬取数据，经ETL清洗、标准化处理后入库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7322800" y="9842500"/>
            <a:ext cx="1778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762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核心处理步骤：薪资与经验解析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508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数据预处理阶段 · 关键指标标准化与量化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25700"/>
            <a:ext cx="698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核心指标解析的两大关键任务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187700"/>
            <a:ext cx="6858000" cy="1435100"/>
          </a:xfrm>
          <a:prstGeom prst="roundRect">
            <a:avLst>
              <a:gd name="adj" fmla="val 7964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574800" y="3403600"/>
            <a:ext cx="3683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73300" y="3390900"/>
            <a:ext cx="508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薪资多元格式归一化解析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73300" y="3898900"/>
            <a:ext cx="5461000" cy="571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识别时薪、年薪、月薪等多种表述，按标准工时统一折算为年薪化数值，解决跨币种与计薪方式的统计难题，有效解析记录达5,185条。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4978400"/>
            <a:ext cx="6858000" cy="1435100"/>
          </a:xfrm>
          <a:prstGeom prst="roundRect">
            <a:avLst>
              <a:gd name="adj" fmla="val 7964"/>
            </a:avLst>
          </a:prstGeom>
          <a:solidFill>
            <a:srgbClr val="E9FB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574800" y="5181600"/>
            <a:ext cx="3683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73300" y="5168900"/>
            <a:ext cx="508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职级与经验年限的量化映射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73300" y="5676900"/>
            <a:ext cx="5461000" cy="571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将定性职级（如Entry/Senior）转化为定量年限区间，建立标准化的经验维度，实现12,000条岗位记录的经验指标全覆盖。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50400" y="2425700"/>
            <a:ext cx="254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解析规则与成效详情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50400" y="3098800"/>
            <a:ext cx="7366000" cy="1079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01 薪资标准化规则：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C4B5A"/>
                </a:solidFill>
                <a:latin typeface="黑体"/>
                <a:ea typeface="黑体"/>
                <a:cs typeface="黑体"/>
                <a:sym typeface="黑体"/>
              </a:rPr>
              <a:t>支持解析“USD 100-150 hourly”、“up to $120k annually”等非标格式，按“每周40小时、每年52周”的标准工时统一折算为年薪化数值，确保数据在同一维度下可比。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50400" y="4191000"/>
            <a:ext cx="7366000" cy="1079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02 经验映射体系：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C4B5A"/>
                </a:solidFill>
                <a:latin typeface="黑体"/>
                <a:ea typeface="黑体"/>
                <a:cs typeface="黑体"/>
                <a:sym typeface="黑体"/>
              </a:rPr>
              <a:t>建立行业通用的职级对应关系：Entry-level → 0-2年，Mid-level → 2-5年，Senior → 5-10年，Executive → 10年以上，实现从“定性标签”到“定量指标”的转化。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63100" y="5397500"/>
            <a:ext cx="74422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50400" y="5651500"/>
            <a:ext cx="1270000" cy="3048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解析成果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50400" y="6032500"/>
            <a:ext cx="3556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5,185 条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(43.2%)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C4B5A"/>
                </a:solidFill>
                <a:latin typeface="黑体"/>
                <a:ea typeface="黑体"/>
                <a:cs typeface="黑体"/>
                <a:sym typeface="黑体"/>
              </a:rPr>
              <a:t>完成薪资结构化解析，覆盖主流薪酬表述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2319000" y="6032500"/>
            <a:ext cx="3556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12,000 条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(100%)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C4B5A"/>
                </a:solidFill>
                <a:latin typeface="黑体"/>
                <a:ea typeface="黑体"/>
                <a:cs typeface="黑体"/>
                <a:sym typeface="黑体"/>
              </a:rPr>
              <a:t>全量完成经验年限映射，无缺失值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" y="9664700"/>
            <a:ext cx="166878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" y="9842500"/>
            <a:ext cx="762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数据来源：全球远程岗位公开数据集预处理结果，基于统一规则清洗与标准化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322800" y="9842500"/>
            <a:ext cx="381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1016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核心处理步骤：异常值处理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635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数据清洗阶段 · 薪资数据质量校验与标准化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197600"/>
          </a:xfrm>
          <a:prstGeom prst="roundRect">
            <a:avLst>
              <a:gd name="adj" fmla="val 18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25700"/>
            <a:ext cx="7366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异常判定规则与核心策略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187700"/>
            <a:ext cx="6858000" cy="1435100"/>
          </a:xfrm>
          <a:prstGeom prst="roundRect">
            <a:avLst>
              <a:gd name="adj" fmla="val 7964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06500" y="4889500"/>
            <a:ext cx="6858000" cy="2286000"/>
          </a:xfrm>
          <a:prstGeom prst="roundRect">
            <a:avLst>
              <a:gd name="adj" fmla="val 5000"/>
            </a:avLst>
          </a:prstGeom>
          <a:solidFill>
            <a:srgbClr val="E9FB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574800" y="3403600"/>
            <a:ext cx="3683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73300" y="3390900"/>
            <a:ext cx="571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策略：标记优先，保留原值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273300" y="3898900"/>
            <a:ext cx="5715000" cy="571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摒弃直接删除的激进方式，采用“标记+保留”策略，既避免数据损失，又为后续人工复核与业务归因分析保留完整线索。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74800" y="5181600"/>
            <a:ext cx="368300" cy="444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73300" y="5168900"/>
            <a:ext cx="5715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三大异常判定阈值规则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73300" y="5676900"/>
            <a:ext cx="5715000" cy="1270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1. 数值过低：年薪化薪资 &lt; $5,000（远低于市场基准）</a:t>
            </a:r>
            <a:b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</a:b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2. 数值过高：年薪化薪资 &gt; $1,000,000（超出行业常规范围）</a:t>
            </a:r>
            <a:b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</a:b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3. 逻辑矛盾：薪资区间最小值大于最大值（数据录入错误）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50400" y="2425700"/>
            <a:ext cx="762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处理成果与应用价值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50400" y="3098800"/>
            <a:ext cx="7620000" cy="368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累计标记异常薪资记录：31 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50400" y="3683000"/>
            <a:ext cx="736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01 新增追踪字段：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创建 `salary_outlier` 布尔型字段，精准定位异常数据行，实现数据状态的可追溯与可视化管理。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50400" y="4508500"/>
            <a:ext cx="736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02 灵活统计应用：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在计算均值、方差等统计指标时，可通过字段快速过滤异常值以保证结果稳健性；在全量分析场景中则保留原始样本。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63100" y="5461000"/>
            <a:ext cx="74422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50400" y="5715000"/>
            <a:ext cx="7366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业务价值：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既保证了数据分析的准确性与稳健性，又避免了因粗暴删除数据导致的样本偏差，为后续的薪资趋势分析、岗位定价模型提供了高质量的数据基础。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0100" y="9664700"/>
            <a:ext cx="16687800" cy="12700"/>
          </a:xfrm>
          <a:prstGeom prst="roundRect">
            <a:avLst>
              <a:gd name="adj" fmla="val 0"/>
            </a:avLst>
          </a:prstGeom>
          <a:solidFill>
            <a:srgbClr val="D8E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00100" y="9842500"/>
            <a:ext cx="1016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数据来源：全球远程岗位薪资数据集预处理记录 | 统计周期：2024 Q1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7322800" y="9842500"/>
            <a:ext cx="635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1016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文本清洗与特征工程处理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762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岗位数据预处理核心步骤解析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477000"/>
          </a:xfrm>
          <a:prstGeom prst="roundRect">
            <a:avLst>
              <a:gd name="adj" fmla="val 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38400"/>
            <a:ext cx="635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01 文本清洗关键流程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3111500"/>
            <a:ext cx="7112000" cy="1041400"/>
          </a:xfrm>
          <a:prstGeom prst="roundRect">
            <a:avLst>
              <a:gd name="adj" fmla="val 10975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397000" y="3213100"/>
            <a:ext cx="6731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基础格式标准化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统一文本大小写规范，去除冗余空白字符与不规则换行，消除格式差异带来的特征干扰，建立标准化的文本输入基础。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06500" y="4127500"/>
            <a:ext cx="7112000" cy="1041400"/>
          </a:xfrm>
          <a:prstGeom prst="roundRect">
            <a:avLst>
              <a:gd name="adj" fmla="val 10975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397000" y="4229100"/>
            <a:ext cx="6731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02 干扰噪声过滤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精准剔除URL链接、HTML标签、特殊符号及无业务意义的标点，净化文本数据，聚焦核心语义信息，提升分析准确性。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5143500"/>
            <a:ext cx="7112000" cy="1041400"/>
          </a:xfrm>
          <a:prstGeom prst="roundRect">
            <a:avLst>
              <a:gd name="adj" fmla="val 10975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397000" y="5245100"/>
            <a:ext cx="6731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技术符号保全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智能识别并保留“Python”、“C++”、“.NET”等关键技术符号，避免因通用清洗规则导致的核心技能信息丢失。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06500" y="6159500"/>
            <a:ext cx="7112000" cy="1041400"/>
          </a:xfrm>
          <a:prstGeom prst="roundRect">
            <a:avLst>
              <a:gd name="adj" fmla="val 10975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397000" y="6261100"/>
            <a:ext cx="6731000" cy="889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04 Jieba智能分词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针对中英文混合文本进行精准分词与词性标注，为后续TF-IDF特征提取、主题模型训练及文本分类提供基础支撑。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61500" y="2438400"/>
            <a:ext cx="635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02 特征工程衍生指标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61500" y="3111500"/>
            <a:ext cx="7493000" cy="1206500"/>
          </a:xfrm>
          <a:prstGeom prst="roundRect">
            <a:avLst>
              <a:gd name="adj" fmla="val 9473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652000" y="3213100"/>
            <a:ext cx="7112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特征一：描述长度 (description_length)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计算岗位描述的字符总数，量化招聘信息的文本规模。该指标反映了岗位介绍的详细程度，是衡量信息丰富度的基础特征。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461500" y="4318000"/>
            <a:ext cx="7493000" cy="1206500"/>
          </a:xfrm>
          <a:prstGeom prst="roundRect">
            <a:avLst>
              <a:gd name="adj" fmla="val 9473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652000" y="4419600"/>
            <a:ext cx="7112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特征二：技能数量 (skill_count)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对清洗后的技能标签进行去重与规范化统计，量化岗位所需的专业技能维度。该指标直接反映岗位对人才的专业能力要求广度。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461500" y="5524500"/>
            <a:ext cx="7493000" cy="1206500"/>
          </a:xfrm>
          <a:prstGeom prst="roundRect">
            <a:avLst>
              <a:gd name="adj" fmla="val 9473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652000" y="5626100"/>
            <a:ext cx="7112000" cy="1016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769AA"/>
                </a:solidFill>
                <a:latin typeface="Noto Sans SC"/>
                <a:ea typeface="Noto Sans SC"/>
                <a:cs typeface="Noto Sans SC"/>
                <a:sym typeface="Noto Sans SC"/>
              </a:rPr>
              <a:t>特征三：质量评分 (quality_score)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基于信息完整性、透明度、规范性等维度构建综合评分体系（满分100），量化招聘信息的质量等级，为后续模型提供监督信号。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800100" y="9664700"/>
            <a:ext cx="16687800" cy="0"/>
          </a:xfrm>
          <a:custGeom>
            <a:avLst/>
            <a:gdLst/>
            <a:ahLst/>
            <a:cxnLst/>
            <a:rect l="l" t="t" r="r" b="b"/>
            <a:pathLst>
              <a:path w="16687800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" y="9842500"/>
            <a:ext cx="1397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数据说明：基于主流招聘平台公开岗位数据，经脱敏、清洗与标准化处理后生成特征指标，确保数据合规与可用性。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322800" y="9842500"/>
            <a:ext cx="635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508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数据质量验收结果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508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WEEK 1 · 全球远程岗位数据质量核验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01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1769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176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有效记录总数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049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12,000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处理后保留有效数据 · 满足课程样本要求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149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9149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324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数据去重率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197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0.00%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324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清洗后无重复记录 · 数据纯净度100%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297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297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F29D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3472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核心字段完整度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345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100%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472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职位/公司/描述等关键信息无缺失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3144500" y="2095500"/>
            <a:ext cx="3886200" cy="1435100"/>
          </a:xfrm>
          <a:prstGeom prst="roundRect">
            <a:avLst>
              <a:gd name="adj" fmla="val 707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3144500" y="2095500"/>
            <a:ext cx="76200" cy="1435100"/>
          </a:xfrm>
          <a:prstGeom prst="roundRect">
            <a:avLst>
              <a:gd name="adj" fmla="val 50000"/>
            </a:avLst>
          </a:prstGeom>
          <a:solidFill>
            <a:srgbClr val="1769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3462000" y="2362200"/>
            <a:ext cx="254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高信息质量标准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449300" y="2654300"/>
            <a:ext cx="2286000" cy="6985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≥80分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3462000" y="3213100"/>
            <a:ext cx="3302000" cy="2159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综合评估透明度与完整性的基准线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0100" y="3911600"/>
            <a:ext cx="7810500" cy="4330700"/>
          </a:xfrm>
          <a:prstGeom prst="roundRect">
            <a:avLst>
              <a:gd name="adj" fmla="val 26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130300" y="4152900"/>
            <a:ext cx="6985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数据质量全流程保障机制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30300" y="4533900"/>
            <a:ext cx="7112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建立“采集-清洗-校验”闭环体系，确保数据在完整性、一致性和可追溯性上达到分析标准，为后续研究奠定坚实基础。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30300" y="5397500"/>
            <a:ext cx="2349500" cy="1397000"/>
          </a:xfrm>
          <a:prstGeom prst="roundRect">
            <a:avLst>
              <a:gd name="adj" fmla="val 8181"/>
            </a:avLst>
          </a:prstGeom>
          <a:solidFill>
            <a:srgbClr val="EAF4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257300" y="5588000"/>
            <a:ext cx="20955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完整性校验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257300" y="5969000"/>
            <a:ext cx="20955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对职位名称、公司、描述等核心字段进行非空校验，剔除无效脏数据。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517900" y="5397500"/>
            <a:ext cx="2349500" cy="1397000"/>
          </a:xfrm>
          <a:prstGeom prst="roundRect">
            <a:avLst>
              <a:gd name="adj" fmla="val 8181"/>
            </a:avLst>
          </a:prstGeom>
          <a:solidFill>
            <a:srgbClr val="E9FB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644900" y="5588000"/>
            <a:ext cx="20955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A9A1"/>
                </a:solidFill>
                <a:latin typeface="黑体"/>
                <a:ea typeface="黑体"/>
                <a:cs typeface="黑体"/>
                <a:sym typeface="黑体"/>
              </a:rPr>
              <a:t>全链路可追溯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3644900" y="5969000"/>
            <a:ext cx="20955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保留原始采集来源与时间戳，所有处理结果均可回溯至原始数据源。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905500" y="5397500"/>
            <a:ext cx="2349500" cy="1397000"/>
          </a:xfrm>
          <a:prstGeom prst="roundRect">
            <a:avLst>
              <a:gd name="adj" fmla="val 8181"/>
            </a:avLst>
          </a:prstGeom>
          <a:solidFill>
            <a:srgbClr val="FFF4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032500" y="5588000"/>
            <a:ext cx="2095500" cy="2921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29D38"/>
                </a:solidFill>
                <a:latin typeface="黑体"/>
                <a:ea typeface="黑体"/>
                <a:cs typeface="黑体"/>
                <a:sym typeface="黑体"/>
              </a:rPr>
              <a:t>语义一致性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032500" y="5969000"/>
            <a:ext cx="2095500" cy="635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统一规范“Remote”等字段的语义表达，避免因格式差异导致分析偏差。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029700" y="3911600"/>
            <a:ext cx="7810500" cy="4330700"/>
          </a:xfrm>
          <a:prstGeom prst="roundRect">
            <a:avLst>
              <a:gd name="adj" fmla="val 26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347200" y="4152900"/>
            <a:ext cx="6985000" cy="355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信息质量评分模型 (Quality Score)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347200" y="4533900"/>
            <a:ext cx="7112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构建多维度量化指标，作为招聘信息透明度与可信度的评估标准，为后续筛选高价值岗位数据提供依据。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347200" y="5270500"/>
            <a:ext cx="7175500" cy="571500"/>
          </a:xfrm>
          <a:prstGeom prst="roundRect">
            <a:avLst>
              <a:gd name="adj" fmla="val 0"/>
            </a:avLst>
          </a:prstGeom>
          <a:solidFill>
            <a:srgbClr val="F5F9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9474200" y="5334000"/>
            <a:ext cx="6985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01 追溯完整性 (30%)：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黑体"/>
                <a:ea typeface="黑体"/>
                <a:cs typeface="黑体"/>
                <a:sym typeface="黑体"/>
              </a:rPr>
              <a:t>包含来源URL、采集时间、数据来源标识等字段，确保数据可溯源。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347200" y="5905500"/>
            <a:ext cx="7175500" cy="571500"/>
          </a:xfrm>
          <a:prstGeom prst="roundRect">
            <a:avLst>
              <a:gd name="adj" fmla="val 0"/>
            </a:avLst>
          </a:prstGeom>
          <a:solidFill>
            <a:srgbClr val="F5F9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9474200" y="5969000"/>
            <a:ext cx="6985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02 核心字段覆盖 (40%)：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黑体"/>
                <a:ea typeface="黑体"/>
                <a:cs typeface="黑体"/>
                <a:sym typeface="黑体"/>
              </a:rPr>
              <a:t>职位名称、公司全称、岗位职责描述等关键信息无缺失或乱码。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347200" y="6540500"/>
            <a:ext cx="7175500" cy="571500"/>
          </a:xfrm>
          <a:prstGeom prst="roundRect">
            <a:avLst>
              <a:gd name="adj" fmla="val 0"/>
            </a:avLst>
          </a:prstGeom>
          <a:solidFill>
            <a:srgbClr val="F5F9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9474200" y="6604000"/>
            <a:ext cx="6985000" cy="508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69AA"/>
                </a:solidFill>
                <a:latin typeface="黑体"/>
                <a:ea typeface="黑体"/>
                <a:cs typeface="黑体"/>
                <a:sym typeface="黑体"/>
              </a:rPr>
              <a:t>03 信息透明度 (30%)：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黑体"/>
                <a:ea typeface="黑体"/>
                <a:cs typeface="黑体"/>
                <a:sym typeface="黑体"/>
              </a:rPr>
              <a:t>薪资范围明确、工作地点清晰、岗位职责描述详尽，无模糊表述。</a:t>
            </a:r>
            <a:endParaRPr lang="en-US" sz="1100"/>
          </a:p>
        </p:txBody>
      </p:sp>
      <p:sp>
        <p:nvSpPr>
          <p:cNvPr id="49" name="Freeform 49"/>
          <p:cNvSpPr/>
          <p:nvPr/>
        </p:nvSpPr>
        <p:spPr>
          <a:xfrm>
            <a:off x="800100" y="9664700"/>
            <a:ext cx="16687800" cy="0"/>
          </a:xfrm>
          <a:custGeom>
            <a:avLst/>
            <a:gdLst/>
            <a:ahLst/>
            <a:cxnLst/>
            <a:rect l="l" t="t" r="r" b="b"/>
            <a:pathLst>
              <a:path w="16687800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800100" y="9842500"/>
            <a:ext cx="76200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数据来源：全球远程岗位公开数据源清洗结果 · 验收标准：字段完整性≥99%，无重复记录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17322800" y="9842500"/>
            <a:ext cx="177800" cy="2032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257632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岗位宽类分布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1066800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811000" y="2095500"/>
            <a:ext cx="5676900" cy="666750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68450"/>
            <a:ext cx="12295505" cy="742759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164568" y="25460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核心观察</a:t>
            </a:r>
            <a:endParaRPr lang="zh-CN" sz="165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159234" y="2966085"/>
            <a:ext cx="21564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Engineering</a:t>
            </a:r>
            <a:endParaRPr lang="en-US" sz="270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373987" y="3071336"/>
            <a:ext cx="1987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2,792 条 · 23.3%</a:t>
            </a:r>
            <a:endParaRPr lang="zh-CN" sz="172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59234" y="3537585"/>
            <a:ext cx="23794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Data Science</a:t>
            </a:r>
            <a:endParaRPr lang="en-US" sz="270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373987" y="3642836"/>
            <a:ext cx="1987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2,199 条 · 18.3%</a:t>
            </a:r>
            <a:endParaRPr lang="zh-CN" sz="172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12172950" y="428625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2164568" y="46415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业务洞察</a:t>
            </a:r>
            <a:endParaRPr lang="zh-CN" sz="165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164949" y="5163979"/>
            <a:ext cx="299379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样本明显偏向技术和数据岗位。</a:t>
            </a:r>
            <a:endParaRPr lang="zh-CN" sz="158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164949" y="5640229"/>
            <a:ext cx="320649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后续模型与聚类建议按类别分层。</a:t>
            </a:r>
            <a:endParaRPr lang="zh-CN" sz="158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164949" y="6116479"/>
            <a:ext cx="405729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求职者可先确定目标类别，再做技能匹配。</a:t>
            </a:r>
            <a:endParaRPr lang="zh-CN" sz="158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12172950" y="7315200"/>
            <a:ext cx="4476750" cy="781050"/>
          </a:xfrm>
          <a:prstGeom prst="roundRect">
            <a:avLst>
              <a:gd name="adj" fmla="val 12195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131450" y="7520464"/>
            <a:ext cx="25597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数据源：12,000 条去重清洗岗位</a:t>
            </a:r>
            <a:endParaRPr lang="zh-CN" sz="128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05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薪资分布与职级关系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810500" cy="6096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067800" y="2095500"/>
            <a:ext cx="8420100" cy="6096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1746250"/>
            <a:ext cx="8994140" cy="566166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1915795"/>
            <a:ext cx="8993505" cy="6094730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250950" y="8326755"/>
            <a:ext cx="7334250" cy="685800"/>
          </a:xfrm>
          <a:prstGeom prst="roundRect">
            <a:avLst>
              <a:gd name="adj" fmla="val 13889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54404" y="8492490"/>
            <a:ext cx="14395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有效 USD 年薪样本</a:t>
            </a:r>
            <a:endParaRPr lang="zh-CN" sz="120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431032" y="8423910"/>
            <a:ext cx="12093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4,592 条</a:t>
            </a:r>
            <a:endParaRPr lang="zh-CN" sz="210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39080" y="8460105"/>
            <a:ext cx="16175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中位数 $121,550</a:t>
            </a:r>
            <a:endParaRPr lang="zh-CN" sz="150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9518650" y="8326755"/>
            <a:ext cx="790575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22104" y="8492490"/>
            <a:ext cx="18409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Executive 年薪中位数约</a:t>
            </a:r>
            <a:endParaRPr lang="zh-CN" sz="120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705842" y="8463915"/>
            <a:ext cx="13274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$226,250</a:t>
            </a:r>
            <a:endParaRPr lang="en-US" sz="210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20292" y="9543097"/>
            <a:ext cx="67825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洞察：薪资只代表主动披露 USD 的透明子样本；未披露薪资不能自动视为低薪。</a:t>
            </a:r>
            <a:endParaRPr lang="zh-CN" sz="13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06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技能与岗位描述分析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99060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049000" y="2095500"/>
            <a:ext cx="64389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" y="1746250"/>
            <a:ext cx="11257915" cy="751332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130" y="2013585"/>
            <a:ext cx="7463790" cy="4744085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1430000" y="6953250"/>
            <a:ext cx="5619750" cy="857250"/>
          </a:xfrm>
          <a:prstGeom prst="roundRect">
            <a:avLst>
              <a:gd name="adj" fmla="val 11111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614404" y="7128510"/>
            <a:ext cx="1174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Spearman 相关</a:t>
            </a:r>
            <a:endParaRPr lang="zh-CN" sz="120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02284" y="7042785"/>
            <a:ext cx="8670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0.67</a:t>
            </a:r>
            <a:endParaRPr lang="en-US" sz="270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852142" y="7112318"/>
            <a:ext cx="15053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描述长度 ↔ 质量分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21618" y="80514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核心观察</a:t>
            </a:r>
            <a:endParaRPr lang="zh-CN" sz="165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22380" y="8486775"/>
            <a:ext cx="33072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sales 出现 728 次，为最高频标签。</a:t>
            </a:r>
            <a:endParaRPr lang="zh-CN" sz="150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07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岗位发布时间与质量等级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99060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049000" y="2095500"/>
            <a:ext cx="64389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6250"/>
            <a:ext cx="9371330" cy="4852035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480" y="1875790"/>
            <a:ext cx="8274685" cy="5824220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127125" y="8501380"/>
            <a:ext cx="8953500" cy="838200"/>
          </a:xfrm>
          <a:prstGeom prst="roundRect">
            <a:avLst>
              <a:gd name="adj" fmla="val 11364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04924" y="8780780"/>
            <a:ext cx="16421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2026.09.06 岗位数量</a:t>
            </a:r>
            <a:endParaRPr lang="zh-CN" sz="120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25442" y="8697913"/>
            <a:ext cx="164131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3,699 条</a:t>
            </a:r>
            <a:endParaRPr lang="zh-CN" sz="28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38062" y="8764587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时间窗口快照，不代表完整市场趋势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29746" y="7915275"/>
            <a:ext cx="23663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High 6,071 · 50.6%</a:t>
            </a:r>
            <a:endParaRPr lang="en-US" sz="180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29746" y="8343900"/>
            <a:ext cx="2740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Medium 5,855 · 48.8%</a:t>
            </a:r>
            <a:endParaRPr lang="en-US" sz="180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429746" y="8772525"/>
            <a:ext cx="17810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Low 74 · 0.6%</a:t>
            </a:r>
            <a:endParaRPr lang="en-US" sz="180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432413" y="9400699"/>
            <a:ext cx="34169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规则：≥80 High · 60–79 Medium · &lt;60 Low</a:t>
            </a:r>
            <a:endParaRPr lang="zh-CN" sz="128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08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岗位质量如何量化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黑体"/>
                <a:ea typeface="黑体"/>
                <a:cs typeface="黑体"/>
              </a:rPr>
              <a:t>09 / 13</a:t>
            </a:r>
            <a:endParaRPr lang="en-US" sz="1200" b="1" dirty="0">
              <a:solidFill>
                <a:srgbClr val="CFE7F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360680" y="1771015"/>
            <a:ext cx="11451590" cy="737362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696700" y="2095500"/>
            <a:ext cx="5791200" cy="666750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0432" y="2421255"/>
            <a:ext cx="46618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黑体"/>
                <a:ea typeface="黑体"/>
                <a:cs typeface="黑体"/>
              </a:rPr>
              <a:t>岗位质量 = 信息透明度 + 信息完整度</a:t>
            </a:r>
            <a:endParaRPr lang="zh-CN" sz="2100" b="1" dirty="0">
              <a:solidFill>
                <a:srgbClr val="083B6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4623" y="2872264"/>
            <a:ext cx="31059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总分 100，不评价企业信誉或录用概率。</a:t>
            </a:r>
            <a:endParaRPr lang="zh-CN" sz="128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0442" y="34261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追溯字段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3381375" y="33909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381375" y="33909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221955" y="34261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5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0442" y="39214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核心字段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3381375" y="38862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3381375" y="3886200"/>
            <a:ext cx="285750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117002" y="39214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10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50442" y="44167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地点限制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3381375" y="43815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381375" y="43815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221955" y="44167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5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50442" y="49120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描述完整性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3381375" y="48768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3381375" y="4876800"/>
            <a:ext cx="7143750" cy="266700"/>
          </a:xfrm>
          <a:prstGeom prst="roundRect">
            <a:avLst>
              <a:gd name="adj" fmla="val 21429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117002" y="49120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25 分</a:t>
            </a:r>
            <a:endParaRPr lang="zh-CN" sz="135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50442" y="54073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薪资透明度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3381375" y="53721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3381375" y="5372100"/>
            <a:ext cx="42862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117002" y="54073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15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50442" y="59026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技能清晰度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3381375" y="58674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3381375" y="5867400"/>
            <a:ext cx="5715000" cy="266700"/>
          </a:xfrm>
          <a:prstGeom prst="roundRect">
            <a:avLst>
              <a:gd name="adj" fmla="val 21429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17002" y="59026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20 分</a:t>
            </a:r>
            <a:endParaRPr lang="zh-CN" sz="135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50442" y="63979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职级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3381375" y="63627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381375" y="6362700"/>
            <a:ext cx="285750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117002" y="63979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10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50442" y="68932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时效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3381375" y="68580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3381375" y="68580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1955" y="68932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5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50442" y="73885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岗位类别</a:t>
            </a:r>
            <a:endParaRPr lang="zh-CN" sz="135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3381375" y="73533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3381375" y="73533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21955" y="73885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5 分</a:t>
            </a:r>
            <a:endParaRPr lang="zh-CN" sz="13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12049125" y="3143250"/>
            <a:ext cx="5067300" cy="1809750"/>
          </a:xfrm>
          <a:prstGeom prst="roundRect">
            <a:avLst>
              <a:gd name="adj" fmla="val 6316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326493" y="34223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评分依据</a:t>
            </a:r>
            <a:endParaRPr lang="zh-CN" sz="165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2328398" y="3891439"/>
            <a:ext cx="33601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source_url / crawl_time / data_origin</a:t>
            </a:r>
            <a:endParaRPr lang="en-US" sz="128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2328398" y="4243864"/>
            <a:ext cx="18076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职责 · 要求 · 福利结构</a:t>
            </a:r>
            <a:endParaRPr lang="zh-CN" sz="128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2328398" y="4596289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薪资、技能、职级、时效、类别</a:t>
            </a:r>
            <a:endParaRPr lang="zh-CN" sz="128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12049125" y="5524500"/>
            <a:ext cx="5067300" cy="2095500"/>
          </a:xfrm>
          <a:prstGeom prst="roundRect">
            <a:avLst>
              <a:gd name="adj" fmla="val 5455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2326493" y="5803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解释边界</a:t>
            </a:r>
            <a:endParaRPr lang="zh-CN" sz="165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327255" y="624840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分数高：招聘信息更透明</a:t>
            </a:r>
            <a:endParaRPr lang="zh-CN" sz="150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2327255" y="66579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不等于企业更好</a:t>
            </a:r>
            <a:endParaRPr lang="zh-CN" sz="150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2327255" y="706755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不等于岗位一定更值得投递</a:t>
            </a:r>
            <a:endParaRPr lang="zh-CN" sz="150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8" name="Line 5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09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四种模型评估结果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1028700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430000" y="2095500"/>
            <a:ext cx="6057900" cy="66675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" y="1600200"/>
            <a:ext cx="11779885" cy="746379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801094" y="2456498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83B6F"/>
                </a:solidFill>
                <a:latin typeface="黑体"/>
                <a:ea typeface="黑体"/>
                <a:cs typeface="黑体"/>
              </a:rPr>
              <a:t>测试集指标</a:t>
            </a:r>
            <a:endParaRPr lang="zh-CN" sz="1950" b="1" dirty="0">
              <a:solidFill>
                <a:srgbClr val="083B6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05285" y="31170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模型</a:t>
            </a:r>
            <a:endParaRPr lang="zh-CN" sz="112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10160" y="3117056"/>
            <a:ext cx="2775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Acc</a:t>
            </a:r>
            <a:endParaRPr lang="en-US" sz="112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615035" y="3117056"/>
            <a:ext cx="3646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Prec</a:t>
            </a:r>
            <a:endParaRPr lang="en-US" sz="112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519910" y="3117056"/>
            <a:ext cx="2775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Rec</a:t>
            </a:r>
            <a:endParaRPr lang="en-US" sz="112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424785" y="3117056"/>
            <a:ext cx="195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F1</a:t>
            </a:r>
            <a:endParaRPr lang="en-US" sz="112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329660" y="3117056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AUC</a:t>
            </a:r>
            <a:endParaRPr lang="en-US" sz="112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11658600" y="340995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805285" y="3593306"/>
            <a:ext cx="1445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Logistic Regression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10160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0.8775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615035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0.8885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519910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0.8666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424785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0.8774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329660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0.9417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11658600" y="422910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805285" y="4412456"/>
            <a:ext cx="306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SVM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710160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0.8729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615035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0.8816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519910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0.8649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424785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0.8732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6329660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0.9381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11658600" y="504825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05285" y="5231606"/>
            <a:ext cx="10920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Random Forest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710160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0.8738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615035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0.8930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4519910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0.8526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5424785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0.8723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6329660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0.9444</a:t>
            </a:r>
            <a:endParaRPr lang="en-US" sz="1120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11658600" y="586740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805285" y="6050756"/>
            <a:ext cx="6357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XGBoost</a:t>
            </a:r>
            <a:endParaRPr lang="en-US" sz="112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710160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0.9142</a:t>
            </a:r>
            <a:endParaRPr lang="en-US" sz="112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615035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0.9271</a:t>
            </a:r>
            <a:endParaRPr lang="en-US" sz="112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4519910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0.9012</a:t>
            </a:r>
            <a:endParaRPr lang="en-US" sz="112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5424785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0.9140</a:t>
            </a:r>
            <a:endParaRPr lang="en-US" sz="112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6329660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黑体"/>
                <a:ea typeface="黑体"/>
                <a:cs typeface="黑体"/>
              </a:rPr>
              <a:t>0.9662</a:t>
            </a:r>
            <a:endParaRPr lang="en-US" sz="1120" b="1" dirty="0">
              <a:solidFill>
                <a:srgbClr val="10A9A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11658600" y="7239000"/>
            <a:ext cx="54483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899011" y="7466171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结论</a:t>
            </a:r>
            <a:endParaRPr lang="zh-CN" sz="142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897487" y="7767161"/>
            <a:ext cx="247394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黑体"/>
                <a:ea typeface="黑体"/>
                <a:cs typeface="黑体"/>
              </a:rPr>
              <a:t>XGBoost 综合表现最好</a:t>
            </a:r>
            <a:endParaRPr lang="zh-CN" sz="1720" b="1" dirty="0">
              <a:solidFill>
                <a:srgbClr val="17324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49" name="Line 49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11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模型可解释性与局限</a:t>
            </a:r>
            <a:endParaRPr lang="zh-CN" sz="3150" b="1" dirty="0">
              <a:solidFill>
                <a:srgbClr val="FFFFFF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黑体"/>
                <a:ea typeface="黑体"/>
                <a:cs typeface="黑体"/>
              </a:rPr>
              <a:t>WEEK 1 · 全球远程岗位数据分析</a:t>
            </a:r>
            <a:endParaRPr lang="zh-CN" sz="1350" dirty="0">
              <a:solidFill>
                <a:srgbClr val="D6E9F6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239000" cy="64770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343900" y="2095500"/>
            <a:ext cx="9144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343900" y="5524500"/>
            <a:ext cx="9144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19250"/>
            <a:ext cx="7809865" cy="7421245"/>
          </a:xfrm>
          <a:prstGeom prst="rect">
            <a:avLst/>
          </a:prstGeom>
        </p:spPr>
      </p:pic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65" y="273685"/>
            <a:ext cx="5723255" cy="4869815"/>
          </a:xfrm>
          <a:prstGeom prst="rect">
            <a:avLst/>
          </a:prstGeom>
        </p:spPr>
      </p:pic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010" y="5162550"/>
            <a:ext cx="8124190" cy="514350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1047750" y="9067800"/>
            <a:ext cx="6762750" cy="438150"/>
          </a:xfrm>
          <a:prstGeom prst="roundRect">
            <a:avLst>
              <a:gd name="adj" fmla="val 17391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2154" y="9224010"/>
            <a:ext cx="3469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769AA"/>
                </a:solidFill>
                <a:latin typeface="黑体"/>
                <a:ea typeface="黑体"/>
                <a:cs typeface="黑体"/>
              </a:rPr>
              <a:t>混淆矩阵看分类错误；ROC 看排序区分能力。</a:t>
            </a:r>
            <a:endParaRPr lang="zh-CN" sz="1200" b="1" dirty="0">
              <a:solidFill>
                <a:srgbClr val="1769A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0" y="634746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29D38"/>
                </a:solidFill>
                <a:latin typeface="黑体"/>
                <a:ea typeface="黑体"/>
                <a:cs typeface="黑体"/>
              </a:rPr>
              <a:t>解释口径</a:t>
            </a:r>
            <a:endParaRPr lang="zh-CN" sz="1500" b="1" dirty="0">
              <a:solidFill>
                <a:srgbClr val="F29D38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794613" y="3714274"/>
            <a:ext cx="44931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特征重要性说明模型如何复现规则标签，不代表因果影响。</a:t>
            </a:r>
            <a:endParaRPr lang="zh-CN" sz="128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数据口径：仅依据《可视化分析报告》《数据预处理文档》</a:t>
            </a:r>
            <a:endParaRPr lang="zh-CN" sz="1050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黑体"/>
                <a:ea typeface="黑体"/>
                <a:cs typeface="黑体"/>
              </a:rPr>
              <a:t>12</a:t>
            </a:r>
            <a:endParaRPr lang="en-US" sz="1050" b="1" dirty="0">
              <a:solidFill>
                <a:srgbClr val="62778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77800"/>
          </a:xfrm>
          <a:prstGeom prst="roundRect">
            <a:avLst>
              <a:gd name="adj" fmla="val 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"/>
            <a:ext cx="18288000" cy="1435100"/>
          </a:xfrm>
          <a:prstGeom prst="roundRect">
            <a:avLst>
              <a:gd name="adj" fmla="val 0"/>
            </a:avLst>
          </a:prstGeom>
          <a:solidFill>
            <a:srgbClr val="083B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0100" y="622300"/>
            <a:ext cx="76200" cy="558800"/>
          </a:xfrm>
          <a:prstGeom prst="roundRect">
            <a:avLst>
              <a:gd name="adj" fmla="val 50000"/>
            </a:avLst>
          </a:prstGeom>
          <a:solidFill>
            <a:srgbClr val="10A9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30300" y="647700"/>
            <a:ext cx="7620000" cy="6223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项目总结与后续工作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1181100"/>
            <a:ext cx="6350000" cy="2667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6E9F6"/>
                </a:solidFill>
                <a:latin typeface="黑体"/>
                <a:ea typeface="黑体"/>
                <a:cs typeface="黑体"/>
                <a:sym typeface="黑体"/>
              </a:rPr>
              <a:t>WEEK 1 · 全球远程岗位数据分析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764000" y="863600"/>
            <a:ext cx="762000" cy="2286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7F2"/>
                </a:solidFill>
                <a:latin typeface="黑体"/>
                <a:ea typeface="黑体"/>
                <a:cs typeface="黑体"/>
                <a:sym typeface="黑体"/>
              </a:rPr>
              <a:t>13 / 13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2095500"/>
            <a:ext cx="7912100" cy="6578600"/>
          </a:xfrm>
          <a:prstGeom prst="roundRect">
            <a:avLst>
              <a:gd name="adj" fmla="val 17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67800" y="2095500"/>
            <a:ext cx="8420100" cy="6578600"/>
          </a:xfrm>
          <a:prstGeom prst="roundRect">
            <a:avLst>
              <a:gd name="adj" fmla="val 17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93800" y="2425700"/>
            <a:ext cx="127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已完成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93800" y="3048000"/>
            <a:ext cx="7112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✓ 12,000条全球远程岗位采集与去重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93800" y="3568700"/>
            <a:ext cx="7112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✓ 清洗、特征工程与7类业务可视化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93800" y="4076700"/>
            <a:ext cx="7112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✓ 100分制岗位信息质量评分体系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93800" y="4597400"/>
            <a:ext cx="7112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✓ 四类模型训练、评估与可解释性分析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93800" y="5105400"/>
            <a:ext cx="7112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✓ 中期汇报材料与课程交付文档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93800" y="6096000"/>
            <a:ext cx="7112000" cy="762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基于采集的高质量数据，已完成全链路的数据处理与模型评估闭环，为后续精准匹配与智能推荐奠定了坚实的数据基础。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2425700"/>
            <a:ext cx="1270000" cy="4064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083B6F"/>
                </a:solidFill>
                <a:latin typeface="黑体"/>
                <a:ea typeface="黑体"/>
                <a:cs typeface="黑体"/>
                <a:sym typeface="黑体"/>
              </a:rPr>
              <a:t>下一步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61500" y="3048000"/>
            <a:ext cx="736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>
            <a:lvl1pPr marL="381000" indent="-203200"/>
            <a:lvl2pPr marL="838200" indent="-203200"/>
            <a:lvl3pPr marL="1295400" indent="-203200"/>
            <a:lvl4pPr marL="1752600" indent="-203200"/>
            <a:lvl5pPr marL="2209800" indent="-203200"/>
            <a:lvl6pPr marL="2667000" indent="-203200"/>
            <a:lvl7pPr marL="3124200" indent="-203200"/>
            <a:lvl8pPr marL="3581400" indent="-203200"/>
            <a:lvl9pPr marL="4038600" indent="-203200"/>
          </a:lstStyle>
          <a:p>
            <a:pPr marL="177800" indent="-177800" algn="l" defTabSz="457200">
              <a:lnSpc>
                <a:spcPct val="100000"/>
              </a:lnSpc>
              <a:buClr>
                <a:srgbClr val="17324D"/>
              </a:buClr>
              <a:buFont typeface="Arial" panose="020B0604020202090204"/>
              <a:buChar char="•"/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Top-k结果进行人工相关性标注，确保推荐准确性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61500" y="3568700"/>
            <a:ext cx="736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>
            <a:lvl1pPr marL="381000" indent="-203200"/>
            <a:lvl2pPr marL="838200" indent="-203200"/>
            <a:lvl3pPr marL="1295400" indent="-203200"/>
            <a:lvl4pPr marL="1752600" indent="-203200"/>
            <a:lvl5pPr marL="2209800" indent="-203200"/>
            <a:lvl6pPr marL="2667000" indent="-203200"/>
            <a:lvl7pPr marL="3124200" indent="-203200"/>
            <a:lvl8pPr marL="3581400" indent="-203200"/>
            <a:lvl9pPr marL="4038600" indent="-203200"/>
          </a:lstStyle>
          <a:p>
            <a:pPr marL="177800" indent="-177800" algn="l" defTabSz="457200">
              <a:lnSpc>
                <a:spcPct val="100000"/>
              </a:lnSpc>
              <a:buClr>
                <a:srgbClr val="17324D"/>
              </a:buClr>
              <a:buFont typeface="Arial" panose="020B0604020202090204"/>
              <a:buChar char="•"/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开展双人标注一致性评估，保障标注质量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61500" y="4076700"/>
            <a:ext cx="736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>
            <a:lvl1pPr marL="381000" indent="-203200"/>
            <a:lvl2pPr marL="838200" indent="-203200"/>
            <a:lvl3pPr marL="1295400" indent="-203200"/>
            <a:lvl4pPr marL="1752600" indent="-203200"/>
            <a:lvl5pPr marL="2209800" indent="-203200"/>
            <a:lvl6pPr marL="2667000" indent="-203200"/>
            <a:lvl7pPr marL="3124200" indent="-203200"/>
            <a:lvl8pPr marL="3581400" indent="-203200"/>
            <a:lvl9pPr marL="4038600" indent="-203200"/>
          </a:lstStyle>
          <a:p>
            <a:pPr marL="177800" indent="-177800" algn="l" defTabSz="457200">
              <a:lnSpc>
                <a:spcPct val="100000"/>
              </a:lnSpc>
              <a:buClr>
                <a:srgbClr val="17324D"/>
              </a:buClr>
              <a:buFont typeface="Arial" panose="020B0604020202090204"/>
              <a:buChar char="•"/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引入句向量召回作为补充，提升检索召回率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461500" y="4597400"/>
            <a:ext cx="736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>
            <a:lvl1pPr marL="381000" indent="-203200"/>
            <a:lvl2pPr marL="838200" indent="-203200"/>
            <a:lvl3pPr marL="1295400" indent="-203200"/>
            <a:lvl4pPr marL="1752600" indent="-203200"/>
            <a:lvl5pPr marL="2209800" indent="-203200"/>
            <a:lvl6pPr marL="2667000" indent="-203200"/>
            <a:lvl7pPr marL="3124200" indent="-203200"/>
            <a:lvl8pPr marL="3581400" indent="-203200"/>
            <a:lvl9pPr marL="4038600" indent="-203200"/>
          </a:lstStyle>
          <a:p>
            <a:pPr marL="177800" indent="-177800" algn="l" defTabSz="457200">
              <a:lnSpc>
                <a:spcPct val="100000"/>
              </a:lnSpc>
              <a:buClr>
                <a:srgbClr val="17324D"/>
              </a:buClr>
              <a:buFont typeface="Arial" panose="020B0604020202090204"/>
              <a:buChar char="•"/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技能词表抽样检查与岗位聚类分析，优化标签体系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461500" y="5105400"/>
            <a:ext cx="7366000" cy="381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>
            <a:lvl1pPr marL="381000" indent="-203200"/>
            <a:lvl2pPr marL="838200" indent="-203200"/>
            <a:lvl3pPr marL="1295400" indent="-203200"/>
            <a:lvl4pPr marL="1752600" indent="-203200"/>
            <a:lvl5pPr marL="2209800" indent="-203200"/>
            <a:lvl6pPr marL="2667000" indent="-203200"/>
            <a:lvl7pPr marL="3124200" indent="-203200"/>
            <a:lvl8pPr marL="3581400" indent="-203200"/>
            <a:lvl9pPr marL="4038600" indent="-203200"/>
          </a:lstStyle>
          <a:p>
            <a:pPr marL="177800" indent="-177800" algn="l" defTabSz="457200">
              <a:lnSpc>
                <a:spcPct val="100000"/>
              </a:lnSpc>
              <a:buClr>
                <a:srgbClr val="17324D"/>
              </a:buClr>
              <a:buFont typeface="Arial" panose="020B0604020202090204"/>
              <a:buChar char="•"/>
              <a:defRPr/>
            </a:pPr>
            <a:r>
              <a:rPr lang="en-US" sz="1600" b="1" i="0" u="none" strike="noStrike">
                <a:solidFill>
                  <a:srgbClr val="17324D"/>
                </a:solidFill>
                <a:latin typeface="黑体"/>
                <a:ea typeface="黑体"/>
                <a:cs typeface="黑体"/>
                <a:sym typeface="黑体"/>
              </a:rPr>
              <a:t>探索 RAG 增强生成与 Agent 智能体应用，推进落地部署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" y="9664700"/>
            <a:ext cx="16687800" cy="12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8E6F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" y="9842500"/>
            <a:ext cx="7620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数据来源：全球招聘平台公开数据采集，清洗后有效样本量为12,000+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272000" y="9842500"/>
            <a:ext cx="508000" cy="254000"/>
          </a:xfrm>
          <a:prstGeom prst="rect">
            <a:avLst/>
          </a:prstGeom>
          <a:noFill/>
          <a:ln w="1905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 defTabSz="4572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62778B"/>
                </a:solidFill>
                <a:latin typeface="黑体"/>
                <a:ea typeface="黑体"/>
                <a:cs typeface="黑体"/>
                <a:sym typeface="黑体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7213</Words>
  <Application>WPS 文字</Application>
  <PresentationFormat/>
  <Paragraphs>744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Arial</vt:lpstr>
      <vt:lpstr>黑体</vt:lpstr>
      <vt:lpstr>汉仪中黑KW</vt:lpstr>
      <vt:lpstr>Noto Sans SC</vt:lpstr>
      <vt:lpstr>微软雅黑</vt:lpstr>
      <vt:lpstr>方正雅意黑 GB18030L2</vt:lpstr>
      <vt:lpstr>宋体</vt:lpstr>
      <vt:lpstr>Arial Unicode MS</vt:lpstr>
      <vt:lpstr>冬青黑体简体中文</vt:lpstr>
      <vt:lpstr>Noto Sans SC</vt:lpstr>
      <vt:lpstr>黑体</vt:lpstr>
      <vt:lpstr>汉仪书宋二KW</vt:lpstr>
      <vt:lpstr>苹方-简</vt:lpstr>
      <vt:lpstr>儷宋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rir1</cp:lastModifiedBy>
  <cp:revision>3</cp:revision>
  <dcterms:created xsi:type="dcterms:W3CDTF">2026-09-11T03:16:19Z</dcterms:created>
  <dcterms:modified xsi:type="dcterms:W3CDTF">2026-09-11T03:16:19Z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{"Label":"1","ContentProducer":"001191110102MACQD9K64010000","ProduceID":"7684082832725216465","ReservedCode1":"","ContentPropagator":"","PropagateID":"","ReservedCode2":""}</vt:lpwstr>
  </property>
  <property fmtid="{D5CDD505-2E9C-101B-9397-08002B2CF9AE}" pid="3" name="KSOProductBuildVer">
    <vt:lpwstr>2052-12.1.28492.28492</vt:lpwstr>
  </property>
  <property fmtid="{D5CDD505-2E9C-101B-9397-08002B2CF9AE}" pid="4" name="ICV">
    <vt:lpwstr>D2B3989F8BC141727272A36ACA03A15A_43</vt:lpwstr>
  </property>
</Properties>
</file>